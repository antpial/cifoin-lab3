
<file path=[Content_Types].xml><?xml version="1.0" encoding="utf-8"?>
<Types xmlns="http://schemas.openxmlformats.org/package/2006/content-types">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p:sldMasterIdLst>
    <p:sldMasterId id="2147483648" r:id="rId1"/>
  </p:sldMasterIdLst>
  <p:notesMasterIdLst>
    <p:notesMasterId r:id="rId17"/>
  </p:notesMasterIdLst>
  <p:handoutMasterIdLst>
    <p:handoutMasterId r:id="rId18"/>
  </p:handoutMasterIdLst>
  <p:sldIdLst>
    <p:sldId id="256" r:id="rId2"/>
    <p:sldId id="289" r:id="rId3"/>
    <p:sldId id="290" r:id="rId4"/>
    <p:sldId id="296" r:id="rId5"/>
    <p:sldId id="389" r:id="rId6"/>
    <p:sldId id="375" r:id="rId7"/>
    <p:sldId id="376" r:id="rId8"/>
    <p:sldId id="390" r:id="rId9"/>
    <p:sldId id="391" r:id="rId10"/>
    <p:sldId id="377" r:id="rId11"/>
    <p:sldId id="388" r:id="rId12"/>
    <p:sldId id="392" r:id="rId13"/>
    <p:sldId id="380" r:id="rId14"/>
    <p:sldId id="381" r:id="rId15"/>
    <p:sldId id="288" r:id="rId16"/>
  </p:sldIdLst>
  <p:sldSz cx="12192000" cy="6858000"/>
  <p:notesSz cx="12192000" cy="6858000"/>
  <p:defaultText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5538" autoAdjust="0"/>
    <p:restoredTop sz="95033" autoAdjust="0"/>
  </p:normalViewPr>
  <p:slideViewPr>
    <p:cSldViewPr>
      <p:cViewPr varScale="1">
        <p:scale>
          <a:sx n="82" d="100"/>
          <a:sy n="82" d="100"/>
        </p:scale>
        <p:origin x="1152" y="72"/>
      </p:cViewPr>
      <p:guideLst>
        <p:guide orient="horz" pos="2880"/>
        <p:guide pos="2160"/>
      </p:guideLst>
    </p:cSldViewPr>
  </p:slideViewPr>
  <p:notesTextViewPr>
    <p:cViewPr>
      <p:scale>
        <a:sx n="100" d="100"/>
        <a:sy n="100" d="100"/>
      </p:scale>
      <p:origin x="0" y="0"/>
    </p:cViewPr>
  </p:notesTextViewPr>
  <p:notesViewPr>
    <p:cSldViewPr>
      <p:cViewPr varScale="1">
        <p:scale>
          <a:sx n="83" d="100"/>
          <a:sy n="83" d="100"/>
        </p:scale>
        <p:origin x="1392" y="62"/>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handoutMaster" Target="handoutMasters/handout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a:extLst>
              <a:ext uri="{FF2B5EF4-FFF2-40B4-BE49-F238E27FC236}">
                <a16:creationId xmlns:a16="http://schemas.microsoft.com/office/drawing/2014/main" id="{ADD96E76-517F-B468-04D8-38EFA44947EB}"/>
              </a:ext>
            </a:extLst>
          </p:cNvPr>
          <p:cNvSpPr>
            <a:spLocks noGrp="1"/>
          </p:cNvSpPr>
          <p:nvPr>
            <p:ph type="hdr" sz="quarter"/>
          </p:nvPr>
        </p:nvSpPr>
        <p:spPr>
          <a:xfrm>
            <a:off x="0" y="0"/>
            <a:ext cx="5283200" cy="344488"/>
          </a:xfrm>
          <a:prstGeom prst="rect">
            <a:avLst/>
          </a:prstGeom>
        </p:spPr>
        <p:txBody>
          <a:bodyPr vert="horz" lIns="91440" tIns="45720" rIns="91440" bIns="45720" rtlCol="0"/>
          <a:lstStyle>
            <a:lvl1pPr algn="l">
              <a:defRPr sz="1200"/>
            </a:lvl1pPr>
          </a:lstStyle>
          <a:p>
            <a:endParaRPr lang="es-ES"/>
          </a:p>
        </p:txBody>
      </p:sp>
      <p:sp>
        <p:nvSpPr>
          <p:cNvPr id="3" name="Marcador de fecha 2">
            <a:extLst>
              <a:ext uri="{FF2B5EF4-FFF2-40B4-BE49-F238E27FC236}">
                <a16:creationId xmlns:a16="http://schemas.microsoft.com/office/drawing/2014/main" id="{8678D0B9-782A-7C16-D731-EEB7F991FA76}"/>
              </a:ext>
            </a:extLst>
          </p:cNvPr>
          <p:cNvSpPr>
            <a:spLocks noGrp="1"/>
          </p:cNvSpPr>
          <p:nvPr>
            <p:ph type="dt" sz="quarter" idx="1"/>
          </p:nvPr>
        </p:nvSpPr>
        <p:spPr>
          <a:xfrm>
            <a:off x="6905625" y="0"/>
            <a:ext cx="5283200" cy="344488"/>
          </a:xfrm>
          <a:prstGeom prst="rect">
            <a:avLst/>
          </a:prstGeom>
        </p:spPr>
        <p:txBody>
          <a:bodyPr vert="horz" lIns="91440" tIns="45720" rIns="91440" bIns="45720" rtlCol="0"/>
          <a:lstStyle>
            <a:lvl1pPr algn="r">
              <a:defRPr sz="1200"/>
            </a:lvl1pPr>
          </a:lstStyle>
          <a:p>
            <a:fld id="{8438F8DC-35B0-48E6-A86E-42F1F08DD00F}" type="datetimeFigureOut">
              <a:rPr lang="es-ES" smtClean="0"/>
              <a:t>19/05/2026</a:t>
            </a:fld>
            <a:endParaRPr lang="es-ES"/>
          </a:p>
        </p:txBody>
      </p:sp>
      <p:sp>
        <p:nvSpPr>
          <p:cNvPr id="4" name="Marcador de pie de página 3">
            <a:extLst>
              <a:ext uri="{FF2B5EF4-FFF2-40B4-BE49-F238E27FC236}">
                <a16:creationId xmlns:a16="http://schemas.microsoft.com/office/drawing/2014/main" id="{2F2E7B1C-60E2-8A48-EEE0-6715FC30A8B7}"/>
              </a:ext>
            </a:extLst>
          </p:cNvPr>
          <p:cNvSpPr>
            <a:spLocks noGrp="1"/>
          </p:cNvSpPr>
          <p:nvPr>
            <p:ph type="ftr" sz="quarter" idx="2"/>
          </p:nvPr>
        </p:nvSpPr>
        <p:spPr>
          <a:xfrm>
            <a:off x="0" y="6513513"/>
            <a:ext cx="5283200" cy="344487"/>
          </a:xfrm>
          <a:prstGeom prst="rect">
            <a:avLst/>
          </a:prstGeom>
        </p:spPr>
        <p:txBody>
          <a:bodyPr vert="horz" lIns="91440" tIns="45720" rIns="91440" bIns="45720" rtlCol="0" anchor="b"/>
          <a:lstStyle>
            <a:lvl1pPr algn="l">
              <a:defRPr sz="1200"/>
            </a:lvl1pPr>
          </a:lstStyle>
          <a:p>
            <a:endParaRPr lang="es-ES"/>
          </a:p>
        </p:txBody>
      </p:sp>
      <p:sp>
        <p:nvSpPr>
          <p:cNvPr id="5" name="Marcador de número de diapositiva 4">
            <a:extLst>
              <a:ext uri="{FF2B5EF4-FFF2-40B4-BE49-F238E27FC236}">
                <a16:creationId xmlns:a16="http://schemas.microsoft.com/office/drawing/2014/main" id="{C428D795-4EA2-62F0-B78A-5F215C828C50}"/>
              </a:ext>
            </a:extLst>
          </p:cNvPr>
          <p:cNvSpPr>
            <a:spLocks noGrp="1"/>
          </p:cNvSpPr>
          <p:nvPr>
            <p:ph type="sldNum" sz="quarter" idx="3"/>
          </p:nvPr>
        </p:nvSpPr>
        <p:spPr>
          <a:xfrm>
            <a:off x="6905625" y="6513513"/>
            <a:ext cx="5283200" cy="344487"/>
          </a:xfrm>
          <a:prstGeom prst="rect">
            <a:avLst/>
          </a:prstGeom>
        </p:spPr>
        <p:txBody>
          <a:bodyPr vert="horz" lIns="91440" tIns="45720" rIns="91440" bIns="45720" rtlCol="0" anchor="b"/>
          <a:lstStyle>
            <a:lvl1pPr algn="r">
              <a:defRPr sz="1200"/>
            </a:lvl1pPr>
          </a:lstStyle>
          <a:p>
            <a:fld id="{4116A549-763A-4A89-A454-A94BAF51395E}" type="slidenum">
              <a:rPr lang="es-ES" smtClean="0"/>
              <a:t>‹#›</a:t>
            </a:fld>
            <a:endParaRPr lang="es-ES"/>
          </a:p>
        </p:txBody>
      </p:sp>
    </p:spTree>
    <p:extLst>
      <p:ext uri="{BB962C8B-B14F-4D97-AF65-F5344CB8AC3E}">
        <p14:creationId xmlns:p14="http://schemas.microsoft.com/office/powerpoint/2010/main" val="1403477749"/>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5283200" cy="344488"/>
          </a:xfrm>
          <a:prstGeom prst="rect">
            <a:avLst/>
          </a:prstGeom>
        </p:spPr>
        <p:txBody>
          <a:bodyPr vert="horz" lIns="91440" tIns="45720" rIns="91440" bIns="45720" rtlCol="0"/>
          <a:lstStyle>
            <a:lvl1pPr algn="l">
              <a:defRPr sz="1200"/>
            </a:lvl1pPr>
          </a:lstStyle>
          <a:p>
            <a:endParaRPr lang="es-ES"/>
          </a:p>
        </p:txBody>
      </p:sp>
      <p:sp>
        <p:nvSpPr>
          <p:cNvPr id="3" name="Marcador de fecha 2"/>
          <p:cNvSpPr>
            <a:spLocks noGrp="1"/>
          </p:cNvSpPr>
          <p:nvPr>
            <p:ph type="dt" idx="1"/>
          </p:nvPr>
        </p:nvSpPr>
        <p:spPr>
          <a:xfrm>
            <a:off x="6905625" y="0"/>
            <a:ext cx="5283200" cy="344488"/>
          </a:xfrm>
          <a:prstGeom prst="rect">
            <a:avLst/>
          </a:prstGeom>
        </p:spPr>
        <p:txBody>
          <a:bodyPr vert="horz" lIns="91440" tIns="45720" rIns="91440" bIns="45720" rtlCol="0"/>
          <a:lstStyle>
            <a:lvl1pPr algn="r">
              <a:defRPr sz="1200"/>
            </a:lvl1pPr>
          </a:lstStyle>
          <a:p>
            <a:fld id="{FACBDC12-F39B-4B97-8F4D-6734F9D366FF}" type="datetimeFigureOut">
              <a:rPr lang="es-ES" smtClean="0"/>
              <a:t>19/05/2026</a:t>
            </a:fld>
            <a:endParaRPr lang="es-ES"/>
          </a:p>
        </p:txBody>
      </p:sp>
      <p:sp>
        <p:nvSpPr>
          <p:cNvPr id="4" name="Marcador de imagen de diapositiva 3"/>
          <p:cNvSpPr>
            <a:spLocks noGrp="1" noRot="1" noChangeAspect="1"/>
          </p:cNvSpPr>
          <p:nvPr>
            <p:ph type="sldImg" idx="2"/>
          </p:nvPr>
        </p:nvSpPr>
        <p:spPr>
          <a:xfrm>
            <a:off x="4038600" y="857250"/>
            <a:ext cx="4114800" cy="2314575"/>
          </a:xfrm>
          <a:prstGeom prst="rect">
            <a:avLst/>
          </a:prstGeom>
          <a:noFill/>
          <a:ln w="12700">
            <a:solidFill>
              <a:prstClr val="black"/>
            </a:solidFill>
          </a:ln>
        </p:spPr>
        <p:txBody>
          <a:bodyPr vert="horz" lIns="91440" tIns="45720" rIns="91440" bIns="45720" rtlCol="0" anchor="ctr"/>
          <a:lstStyle/>
          <a:p>
            <a:endParaRPr lang="es-ES"/>
          </a:p>
        </p:txBody>
      </p:sp>
      <p:sp>
        <p:nvSpPr>
          <p:cNvPr id="5" name="Marcador de notas 4"/>
          <p:cNvSpPr>
            <a:spLocks noGrp="1"/>
          </p:cNvSpPr>
          <p:nvPr>
            <p:ph type="body" sz="quarter" idx="3"/>
          </p:nvPr>
        </p:nvSpPr>
        <p:spPr>
          <a:xfrm>
            <a:off x="1219200" y="3300413"/>
            <a:ext cx="9753600" cy="2700337"/>
          </a:xfrm>
          <a:prstGeom prst="rect">
            <a:avLst/>
          </a:prstGeom>
        </p:spPr>
        <p:txBody>
          <a:bodyPr vert="horz" lIns="91440" tIns="45720" rIns="91440" bIns="45720" rtlCol="0"/>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6" name="Marcador de pie de página 5"/>
          <p:cNvSpPr>
            <a:spLocks noGrp="1"/>
          </p:cNvSpPr>
          <p:nvPr>
            <p:ph type="ftr" sz="quarter" idx="4"/>
          </p:nvPr>
        </p:nvSpPr>
        <p:spPr>
          <a:xfrm>
            <a:off x="0" y="6513513"/>
            <a:ext cx="5283200" cy="344487"/>
          </a:xfrm>
          <a:prstGeom prst="rect">
            <a:avLst/>
          </a:prstGeom>
        </p:spPr>
        <p:txBody>
          <a:bodyPr vert="horz" lIns="91440" tIns="45720" rIns="91440" bIns="45720" rtlCol="0" anchor="b"/>
          <a:lstStyle>
            <a:lvl1pPr algn="l">
              <a:defRPr sz="1200"/>
            </a:lvl1pPr>
          </a:lstStyle>
          <a:p>
            <a:endParaRPr lang="es-ES"/>
          </a:p>
        </p:txBody>
      </p:sp>
      <p:sp>
        <p:nvSpPr>
          <p:cNvPr id="7" name="Marcador de número de diapositiva 6"/>
          <p:cNvSpPr>
            <a:spLocks noGrp="1"/>
          </p:cNvSpPr>
          <p:nvPr>
            <p:ph type="sldNum" sz="quarter" idx="5"/>
          </p:nvPr>
        </p:nvSpPr>
        <p:spPr>
          <a:xfrm>
            <a:off x="6905625" y="6513513"/>
            <a:ext cx="5283200" cy="344487"/>
          </a:xfrm>
          <a:prstGeom prst="rect">
            <a:avLst/>
          </a:prstGeom>
        </p:spPr>
        <p:txBody>
          <a:bodyPr vert="horz" lIns="91440" tIns="45720" rIns="91440" bIns="45720" rtlCol="0" anchor="b"/>
          <a:lstStyle>
            <a:lvl1pPr algn="r">
              <a:defRPr sz="1200"/>
            </a:lvl1pPr>
          </a:lstStyle>
          <a:p>
            <a:fld id="{676223B9-C868-4436-87D9-1A3152E1157A}" type="slidenum">
              <a:rPr lang="es-ES" smtClean="0"/>
              <a:t>‹#›</a:t>
            </a:fld>
            <a:endParaRPr lang="es-ES"/>
          </a:p>
        </p:txBody>
      </p:sp>
    </p:spTree>
    <p:extLst>
      <p:ext uri="{BB962C8B-B14F-4D97-AF65-F5344CB8AC3E}">
        <p14:creationId xmlns:p14="http://schemas.microsoft.com/office/powerpoint/2010/main" val="283421117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 dirty="0"/>
          </a:p>
        </p:txBody>
      </p:sp>
      <p:sp>
        <p:nvSpPr>
          <p:cNvPr id="4" name="Marcador de número de diapositiva 3"/>
          <p:cNvSpPr>
            <a:spLocks noGrp="1"/>
          </p:cNvSpPr>
          <p:nvPr>
            <p:ph type="sldNum" sz="quarter" idx="5"/>
          </p:nvPr>
        </p:nvSpPr>
        <p:spPr/>
        <p:txBody>
          <a:bodyPr/>
          <a:lstStyle/>
          <a:p>
            <a:fld id="{676223B9-C868-4436-87D9-1A3152E1157A}" type="slidenum">
              <a:rPr lang="es-ES" smtClean="0"/>
              <a:t>3</a:t>
            </a:fld>
            <a:endParaRPr lang="es-ES"/>
          </a:p>
        </p:txBody>
      </p:sp>
    </p:spTree>
    <p:extLst>
      <p:ext uri="{BB962C8B-B14F-4D97-AF65-F5344CB8AC3E}">
        <p14:creationId xmlns:p14="http://schemas.microsoft.com/office/powerpoint/2010/main" val="209253237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5DCA2C-DC1C-94AC-4B44-E792E8105710}"/>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B3DDFC22-9D5D-07E4-D6DC-4D9F86CC1C71}"/>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ADFDA27A-7867-5B97-DBC7-5AFE21A3C8CF}"/>
              </a:ext>
            </a:extLst>
          </p:cNvPr>
          <p:cNvSpPr>
            <a:spLocks noGrp="1"/>
          </p:cNvSpPr>
          <p:nvPr>
            <p:ph type="body" idx="1"/>
          </p:nvPr>
        </p:nvSpPr>
        <p:spPr/>
        <p:txBody>
          <a:bodyPr/>
          <a:lstStyle/>
          <a:p>
            <a:endParaRPr lang="es-ES" dirty="0"/>
          </a:p>
        </p:txBody>
      </p:sp>
      <p:sp>
        <p:nvSpPr>
          <p:cNvPr id="4" name="Marcador de número de diapositiva 3">
            <a:extLst>
              <a:ext uri="{FF2B5EF4-FFF2-40B4-BE49-F238E27FC236}">
                <a16:creationId xmlns:a16="http://schemas.microsoft.com/office/drawing/2014/main" id="{C3521375-3405-AFF1-9827-86123C005F32}"/>
              </a:ext>
            </a:extLst>
          </p:cNvPr>
          <p:cNvSpPr>
            <a:spLocks noGrp="1"/>
          </p:cNvSpPr>
          <p:nvPr>
            <p:ph type="sldNum" sz="quarter" idx="5"/>
          </p:nvPr>
        </p:nvSpPr>
        <p:spPr/>
        <p:txBody>
          <a:bodyPr/>
          <a:lstStyle/>
          <a:p>
            <a:fld id="{676223B9-C868-4436-87D9-1A3152E1157A}" type="slidenum">
              <a:rPr lang="es-ES" smtClean="0"/>
              <a:t>4</a:t>
            </a:fld>
            <a:endParaRPr lang="es-ES"/>
          </a:p>
        </p:txBody>
      </p:sp>
    </p:spTree>
    <p:extLst>
      <p:ext uri="{BB962C8B-B14F-4D97-AF65-F5344CB8AC3E}">
        <p14:creationId xmlns:p14="http://schemas.microsoft.com/office/powerpoint/2010/main" val="357488411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914400" y="2125980"/>
            <a:ext cx="10363200" cy="1440180"/>
          </a:xfrm>
          <a:prstGeom prst="rect">
            <a:avLst/>
          </a:prstGeom>
        </p:spPr>
        <p:txBody>
          <a:bodyPr wrap="square" lIns="0" tIns="0" rIns="0" bIns="0">
            <a:spAutoFit/>
          </a:bodyPr>
          <a:lstStyle>
            <a:lvl1pPr>
              <a:defRPr/>
            </a:lvl1pPr>
          </a:lstStyle>
          <a:p>
            <a:endParaRPr/>
          </a:p>
        </p:txBody>
      </p:sp>
      <p:sp>
        <p:nvSpPr>
          <p:cNvPr id="3" name="Holder 3"/>
          <p:cNvSpPr>
            <a:spLocks noGrp="1"/>
          </p:cNvSpPr>
          <p:nvPr>
            <p:ph type="subTitle" idx="4"/>
          </p:nvPr>
        </p:nvSpPr>
        <p:spPr>
          <a:xfrm>
            <a:off x="1828800" y="3840480"/>
            <a:ext cx="8534400" cy="1714500"/>
          </a:xfrm>
          <a:prstGeom prst="rect">
            <a:avLst/>
          </a:prstGeom>
        </p:spPr>
        <p:txBody>
          <a:bodyPr wrap="square" lIns="0" tIns="0" rIns="0" bIns="0">
            <a:spAutoFit/>
          </a:bodyPr>
          <a:lstStyle>
            <a:lvl1pPr>
              <a:defRPr/>
            </a:lvl1pPr>
          </a:lstStyle>
          <a:p>
            <a:endParaRPr/>
          </a:p>
        </p:txBody>
      </p:sp>
      <p:sp>
        <p:nvSpPr>
          <p:cNvPr id="4" name="Holder 4"/>
          <p:cNvSpPr>
            <a:spLocks noGrp="1"/>
          </p:cNvSpPr>
          <p:nvPr>
            <p:ph type="ftr" sz="quarter" idx="5"/>
          </p:nvPr>
        </p:nvSpPr>
        <p:spPr/>
        <p:txBody>
          <a:bodyPr lIns="0" tIns="0" rIns="0" bIns="0"/>
          <a:lstStyle>
            <a:lvl1pPr>
              <a:defRPr sz="900" b="0" i="0">
                <a:solidFill>
                  <a:srgbClr val="585858"/>
                </a:solidFill>
                <a:latin typeface="Arial"/>
                <a:cs typeface="Arial"/>
              </a:defRPr>
            </a:lvl1pPr>
          </a:lstStyle>
          <a:p>
            <a:pPr marL="12700">
              <a:lnSpc>
                <a:spcPct val="100000"/>
              </a:lnSpc>
              <a:spcBef>
                <a:spcPts val="15"/>
              </a:spcBef>
            </a:pPr>
            <a:r>
              <a:rPr lang="es-ES" spc="-5"/>
              <a:t>LAB 3.0. CIRCUITS &amp; COMPACT MODELS</a:t>
            </a:r>
            <a:endParaRPr spc="-5" dirty="0"/>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a:xfrm>
            <a:off x="590550" y="206752"/>
            <a:ext cx="10991850" cy="307777"/>
          </a:xfrm>
        </p:spPr>
        <p:txBody>
          <a:bodyPr lIns="0" tIns="0" rIns="0" bIns="0"/>
          <a:lstStyle>
            <a:lvl1pPr>
              <a:defRPr sz="2000" b="1" i="0">
                <a:solidFill>
                  <a:schemeClr val="tx1"/>
                </a:solidFill>
                <a:latin typeface="Calibri"/>
                <a:cs typeface="Calibri"/>
              </a:defRPr>
            </a:lvl1pPr>
          </a:lstStyle>
          <a:p>
            <a:endParaRPr dirty="0"/>
          </a:p>
        </p:txBody>
      </p:sp>
      <p:sp>
        <p:nvSpPr>
          <p:cNvPr id="3" name="Holder 3"/>
          <p:cNvSpPr>
            <a:spLocks noGrp="1"/>
          </p:cNvSpPr>
          <p:nvPr>
            <p:ph type="body" idx="1"/>
          </p:nvPr>
        </p:nvSpPr>
        <p:spPr>
          <a:xfrm>
            <a:off x="609600" y="2152910"/>
            <a:ext cx="10972800" cy="3950710"/>
          </a:xfrm>
        </p:spPr>
        <p:txBody>
          <a:bodyPr lIns="0" tIns="0" rIns="0" bIns="0"/>
          <a:lstStyle>
            <a:lvl1pPr>
              <a:defRPr/>
            </a:lvl1pPr>
          </a:lstStyle>
          <a:p>
            <a:endParaRPr dirty="0"/>
          </a:p>
        </p:txBody>
      </p:sp>
      <p:sp>
        <p:nvSpPr>
          <p:cNvPr id="4" name="Holder 4"/>
          <p:cNvSpPr>
            <a:spLocks noGrp="1"/>
          </p:cNvSpPr>
          <p:nvPr>
            <p:ph type="ftr" sz="quarter" idx="5"/>
          </p:nvPr>
        </p:nvSpPr>
        <p:spPr>
          <a:xfrm>
            <a:off x="609600" y="6457057"/>
            <a:ext cx="2743200" cy="184666"/>
          </a:xfrm>
        </p:spPr>
        <p:txBody>
          <a:bodyPr lIns="0" tIns="0" rIns="0" bIns="0" anchor="ctr"/>
          <a:lstStyle>
            <a:lvl1pPr>
              <a:defRPr sz="1200" b="0" i="0">
                <a:solidFill>
                  <a:srgbClr val="585858"/>
                </a:solidFill>
                <a:latin typeface="Arial"/>
                <a:cs typeface="Arial"/>
              </a:defRPr>
            </a:lvl1pPr>
          </a:lstStyle>
          <a:p>
            <a:pPr marL="12700">
              <a:spcBef>
                <a:spcPts val="15"/>
              </a:spcBef>
            </a:pPr>
            <a:r>
              <a:rPr lang="es-ES" spc="-5"/>
              <a:t>LAB 3.0. CIRCUITS &amp; COMPACT MODELS</a:t>
            </a:r>
            <a:endParaRPr lang="es-ES" spc="-5" dirty="0"/>
          </a:p>
        </p:txBody>
      </p:sp>
      <p:sp>
        <p:nvSpPr>
          <p:cNvPr id="6" name="Holder 6"/>
          <p:cNvSpPr>
            <a:spLocks noGrp="1"/>
          </p:cNvSpPr>
          <p:nvPr>
            <p:ph type="sldNum" sz="quarter" idx="7"/>
          </p:nvPr>
        </p:nvSpPr>
        <p:spPr>
          <a:xfrm>
            <a:off x="9311640" y="6377940"/>
            <a:ext cx="2804160" cy="342900"/>
          </a:xfrm>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1600" b="0" i="0">
                <a:solidFill>
                  <a:schemeClr val="tx1"/>
                </a:solidFill>
                <a:latin typeface="Calibri"/>
                <a:cs typeface="Calibri"/>
              </a:defRPr>
            </a:lvl1pPr>
          </a:lstStyle>
          <a:p>
            <a:endParaRPr/>
          </a:p>
        </p:txBody>
      </p:sp>
      <p:sp>
        <p:nvSpPr>
          <p:cNvPr id="3" name="Holder 3"/>
          <p:cNvSpPr>
            <a:spLocks noGrp="1"/>
          </p:cNvSpPr>
          <p:nvPr>
            <p:ph sz="half" idx="2"/>
          </p:nvPr>
        </p:nvSpPr>
        <p:spPr>
          <a:xfrm>
            <a:off x="609600" y="1577340"/>
            <a:ext cx="5303520" cy="4526280"/>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6278880" y="1577340"/>
            <a:ext cx="5303520" cy="4526280"/>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defRPr sz="900" b="0" i="0">
                <a:solidFill>
                  <a:srgbClr val="585858"/>
                </a:solidFill>
                <a:latin typeface="Arial"/>
                <a:cs typeface="Arial"/>
              </a:defRPr>
            </a:lvl1pPr>
          </a:lstStyle>
          <a:p>
            <a:pPr marL="12700">
              <a:lnSpc>
                <a:spcPct val="100000"/>
              </a:lnSpc>
              <a:spcBef>
                <a:spcPts val="15"/>
              </a:spcBef>
            </a:pPr>
            <a:r>
              <a:rPr lang="es-ES" spc="-5"/>
              <a:t>LAB 3.0. CIRCUITS &amp; COMPACT MODELS</a:t>
            </a:r>
            <a:endParaRPr spc="-5" dirty="0"/>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endParaRPr lang="en-US"/>
          </a:p>
        </p:txBody>
      </p:sp>
      <p:sp>
        <p:nvSpPr>
          <p:cNvPr id="7" name="Holder 7"/>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obj" preserve="1">
  <p:cSld name="Title Only">
    <p:bg>
      <p:bgPr>
        <a:solidFill>
          <a:schemeClr val="bg1"/>
        </a:solidFill>
        <a:effectLst/>
      </p:bgPr>
    </p:bg>
    <p:spTree>
      <p:nvGrpSpPr>
        <p:cNvPr id="1" name=""/>
        <p:cNvGrpSpPr/>
        <p:nvPr/>
      </p:nvGrpSpPr>
      <p:grpSpPr>
        <a:xfrm>
          <a:off x="0" y="0"/>
          <a:ext cx="0" cy="0"/>
          <a:chOff x="0" y="0"/>
          <a:chExt cx="0" cy="0"/>
        </a:xfrm>
      </p:grpSpPr>
      <p:sp>
        <p:nvSpPr>
          <p:cNvPr id="16" name="bk object 16"/>
          <p:cNvSpPr/>
          <p:nvPr/>
        </p:nvSpPr>
        <p:spPr>
          <a:xfrm>
            <a:off x="0" y="2636520"/>
            <a:ext cx="3944620" cy="1584960"/>
          </a:xfrm>
          <a:custGeom>
            <a:avLst/>
            <a:gdLst/>
            <a:ahLst/>
            <a:cxnLst/>
            <a:rect l="l" t="t" r="r" b="b"/>
            <a:pathLst>
              <a:path w="3944620" h="1584960">
                <a:moveTo>
                  <a:pt x="0" y="1584959"/>
                </a:moveTo>
                <a:lnTo>
                  <a:pt x="3944112" y="1584959"/>
                </a:lnTo>
                <a:lnTo>
                  <a:pt x="3944112" y="0"/>
                </a:lnTo>
                <a:lnTo>
                  <a:pt x="0" y="0"/>
                </a:lnTo>
                <a:lnTo>
                  <a:pt x="0" y="1584959"/>
                </a:lnTo>
                <a:close/>
              </a:path>
            </a:pathLst>
          </a:custGeom>
          <a:solidFill>
            <a:srgbClr val="000000"/>
          </a:solidFill>
        </p:spPr>
        <p:txBody>
          <a:bodyPr wrap="square" lIns="0" tIns="0" rIns="0" bIns="0" rtlCol="0"/>
          <a:lstStyle/>
          <a:p>
            <a:endParaRPr/>
          </a:p>
        </p:txBody>
      </p:sp>
      <p:sp>
        <p:nvSpPr>
          <p:cNvPr id="17" name="bk object 17"/>
          <p:cNvSpPr/>
          <p:nvPr/>
        </p:nvSpPr>
        <p:spPr>
          <a:xfrm>
            <a:off x="771144" y="2951988"/>
            <a:ext cx="2403348" cy="954024"/>
          </a:xfrm>
          <a:prstGeom prst="rect">
            <a:avLst/>
          </a:prstGeom>
          <a:blipFill>
            <a:blip r:embed="rId2" cstate="print"/>
            <a:stretch>
              <a:fillRect/>
            </a:stretch>
          </a:blipFill>
        </p:spPr>
        <p:txBody>
          <a:bodyPr wrap="square" lIns="0" tIns="0" rIns="0" bIns="0" rtlCol="0"/>
          <a:lstStyle/>
          <a:p>
            <a:endParaRPr/>
          </a:p>
        </p:txBody>
      </p:sp>
      <p:sp>
        <p:nvSpPr>
          <p:cNvPr id="2" name="Holder 2"/>
          <p:cNvSpPr>
            <a:spLocks noGrp="1"/>
          </p:cNvSpPr>
          <p:nvPr>
            <p:ph type="title"/>
          </p:nvPr>
        </p:nvSpPr>
        <p:spPr/>
        <p:txBody>
          <a:bodyPr lIns="0" tIns="0" rIns="0" bIns="0"/>
          <a:lstStyle>
            <a:lvl1pPr>
              <a:defRPr sz="1600" b="0" i="0">
                <a:solidFill>
                  <a:schemeClr val="tx1"/>
                </a:solidFill>
                <a:latin typeface="Calibri"/>
                <a:cs typeface="Calibri"/>
              </a:defRPr>
            </a:lvl1pPr>
          </a:lstStyle>
          <a:p>
            <a:endParaRP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endParaRPr lang="en-US"/>
          </a:p>
        </p:txBody>
      </p:sp>
      <p:sp>
        <p:nvSpPr>
          <p:cNvPr id="5" name="Holder 5"/>
          <p:cNvSpPr>
            <a:spLocks noGrp="1"/>
          </p:cNvSpPr>
          <p:nvPr>
            <p:ph type="sldNum" sz="quarter" idx="7"/>
          </p:nvPr>
        </p:nvSpPr>
        <p:spPr>
          <a:xfrm>
            <a:off x="9296400" y="6377940"/>
            <a:ext cx="2804160" cy="342900"/>
          </a:xfrm>
        </p:spPr>
        <p:txBody>
          <a:bodyPr lIns="0" tIns="0" rIns="0" bIns="0"/>
          <a:lstStyle>
            <a:lvl1pPr algn="r">
              <a:defRPr>
                <a:solidFill>
                  <a:schemeClr val="tx1">
                    <a:tint val="75000"/>
                  </a:schemeClr>
                </a:solidFill>
              </a:defRPr>
            </a:lvl1pPr>
          </a:lstStyle>
          <a:p>
            <a:fld id="{B6F15528-21DE-4FAA-801E-634DDDAF4B2B}" type="slidenum">
              <a:t>‹#›</a:t>
            </a:fld>
            <a:endParaRPr/>
          </a:p>
        </p:txBody>
      </p:sp>
      <p:pic>
        <p:nvPicPr>
          <p:cNvPr id="6" name="Gráfico 5">
            <a:extLst>
              <a:ext uri="{FF2B5EF4-FFF2-40B4-BE49-F238E27FC236}">
                <a16:creationId xmlns:a16="http://schemas.microsoft.com/office/drawing/2014/main" id="{F5CB4B75-CC85-5F87-B13B-97FD63FFBC56}"/>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2891213" y="6357666"/>
            <a:ext cx="6409575" cy="363174"/>
          </a:xfrm>
          <a:prstGeom prst="rect">
            <a:avLst/>
          </a:prstGeom>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obj" preserve="1">
  <p:cSld name="Blank">
    <p:bg>
      <p:bgPr>
        <a:solidFill>
          <a:schemeClr val="bg1"/>
        </a:solidFill>
        <a:effectLst/>
      </p:bgPr>
    </p:bg>
    <p:spTree>
      <p:nvGrpSpPr>
        <p:cNvPr id="1" name=""/>
        <p:cNvGrpSpPr/>
        <p:nvPr/>
      </p:nvGrpSpPr>
      <p:grpSpPr>
        <a:xfrm>
          <a:off x="0" y="0"/>
          <a:ext cx="0" cy="0"/>
          <a:chOff x="0" y="0"/>
          <a:chExt cx="0" cy="0"/>
        </a:xfrm>
      </p:grpSpPr>
      <p:sp>
        <p:nvSpPr>
          <p:cNvPr id="16" name="bk object 16"/>
          <p:cNvSpPr/>
          <p:nvPr/>
        </p:nvSpPr>
        <p:spPr>
          <a:xfrm>
            <a:off x="594327" y="4722313"/>
            <a:ext cx="1521016" cy="1253853"/>
          </a:xfrm>
          <a:prstGeom prst="rect">
            <a:avLst/>
          </a:prstGeom>
          <a:blipFill>
            <a:blip r:embed="rId2" cstate="print"/>
            <a:stretch>
              <a:fillRect/>
            </a:stretch>
          </a:blipFill>
        </p:spPr>
        <p:txBody>
          <a:bodyPr wrap="square" lIns="0" tIns="0" rIns="0" bIns="0" rtlCol="0"/>
          <a:lstStyle/>
          <a:p>
            <a:endParaRP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endParaRPr lang="en-US"/>
          </a:p>
        </p:txBody>
      </p:sp>
      <p:sp>
        <p:nvSpPr>
          <p:cNvPr id="4" name="Holder 4"/>
          <p:cNvSpPr>
            <a:spLocks noGrp="1"/>
          </p:cNvSpPr>
          <p:nvPr>
            <p:ph type="sldNum" sz="quarter" idx="7"/>
          </p:nvPr>
        </p:nvSpPr>
        <p:spPr>
          <a:xfrm>
            <a:off x="9372600" y="6377940"/>
            <a:ext cx="2804160" cy="342900"/>
          </a:xfrm>
        </p:spPr>
        <p:txBody>
          <a:bodyPr lIns="0" tIns="0" rIns="0" bIns="0"/>
          <a:lstStyle>
            <a:lvl1pPr algn="r">
              <a:defRPr>
                <a:solidFill>
                  <a:schemeClr val="tx1">
                    <a:tint val="75000"/>
                  </a:schemeClr>
                </a:solidFill>
              </a:defRPr>
            </a:lvl1pPr>
          </a:lstStyle>
          <a:p>
            <a:fld id="{B6F15528-21DE-4FAA-801E-634DDDAF4B2B}" type="slidenum">
              <a:t>‹#›</a:t>
            </a:fld>
            <a:endParaRPr/>
          </a:p>
        </p:txBody>
      </p:sp>
      <p:pic>
        <p:nvPicPr>
          <p:cNvPr id="5" name="Gráfico 4">
            <a:extLst>
              <a:ext uri="{FF2B5EF4-FFF2-40B4-BE49-F238E27FC236}">
                <a16:creationId xmlns:a16="http://schemas.microsoft.com/office/drawing/2014/main" id="{9F3DE434-B07E-429D-5547-0D42DA9B05A1}"/>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5045006" y="6356057"/>
            <a:ext cx="6409575" cy="363174"/>
          </a:xfrm>
          <a:prstGeom prst="rect">
            <a:avLst/>
          </a:prstGeom>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userDrawn="1">
  <p:cSld name="Texto simple">
    <p:spTree>
      <p:nvGrpSpPr>
        <p:cNvPr id="1" name=""/>
        <p:cNvGrpSpPr/>
        <p:nvPr/>
      </p:nvGrpSpPr>
      <p:grpSpPr>
        <a:xfrm>
          <a:off x="0" y="0"/>
          <a:ext cx="0" cy="0"/>
          <a:chOff x="0" y="0"/>
          <a:chExt cx="0" cy="0"/>
        </a:xfrm>
      </p:grpSpPr>
      <p:sp>
        <p:nvSpPr>
          <p:cNvPr id="6" name="Rectangle 47"/>
          <p:cNvSpPr/>
          <p:nvPr userDrawn="1"/>
        </p:nvSpPr>
        <p:spPr>
          <a:xfrm>
            <a:off x="608171" y="381001"/>
            <a:ext cx="45731" cy="68349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9" name="Título 8"/>
          <p:cNvSpPr>
            <a:spLocks noGrp="1"/>
          </p:cNvSpPr>
          <p:nvPr>
            <p:ph type="title" hasCustomPrompt="1"/>
          </p:nvPr>
        </p:nvSpPr>
        <p:spPr>
          <a:xfrm>
            <a:off x="736652" y="381000"/>
            <a:ext cx="7778317" cy="313782"/>
          </a:xfrm>
        </p:spPr>
        <p:txBody>
          <a:bodyPr>
            <a:normAutofit/>
          </a:bodyPr>
          <a:lstStyle>
            <a:lvl1pPr algn="l">
              <a:defRPr sz="2800" b="1" i="0" baseline="0">
                <a:solidFill>
                  <a:schemeClr val="tx1">
                    <a:lumMod val="65000"/>
                    <a:lumOff val="35000"/>
                  </a:schemeClr>
                </a:solidFill>
                <a:latin typeface="Calibri" panose="020F0502020204030204" pitchFamily="34" charset="0"/>
                <a:ea typeface="Open Sans Extrabold" panose="020B0906030804020204" pitchFamily="34" charset="0"/>
                <a:cs typeface="Calibri" panose="020F0502020204030204" pitchFamily="34" charset="0"/>
              </a:defRPr>
            </a:lvl1pPr>
          </a:lstStyle>
          <a:p>
            <a:r>
              <a:rPr lang="es-ES" dirty="0"/>
              <a:t>TITULO</a:t>
            </a:r>
          </a:p>
        </p:txBody>
      </p:sp>
      <p:sp>
        <p:nvSpPr>
          <p:cNvPr id="13" name="Marcador de texto 12"/>
          <p:cNvSpPr>
            <a:spLocks noGrp="1"/>
          </p:cNvSpPr>
          <p:nvPr>
            <p:ph type="body" sz="quarter" idx="10" hasCustomPrompt="1"/>
          </p:nvPr>
        </p:nvSpPr>
        <p:spPr>
          <a:xfrm>
            <a:off x="608171" y="1295401"/>
            <a:ext cx="11051877" cy="4958137"/>
          </a:xfrm>
        </p:spPr>
        <p:txBody>
          <a:bodyPr>
            <a:normAutofit/>
          </a:bodyPr>
          <a:lstStyle>
            <a:lvl1pPr>
              <a:defRPr sz="2400" baseline="0">
                <a:latin typeface="Calibri" panose="020F0502020204030204" pitchFamily="34" charset="0"/>
                <a:ea typeface="Open Sans Light" panose="020B0306030504020204" pitchFamily="34" charset="0"/>
                <a:cs typeface="Calibri" panose="020F0502020204030204" pitchFamily="34" charset="0"/>
              </a:defRPr>
            </a:lvl1pPr>
            <a:lvl2pPr>
              <a:defRPr sz="1800">
                <a:latin typeface="Calibri" panose="020F0502020204030204" pitchFamily="34" charset="0"/>
                <a:ea typeface="Open Sans Light" panose="020B0306030504020204" pitchFamily="34" charset="0"/>
                <a:cs typeface="Calibri" panose="020F0502020204030204" pitchFamily="34" charset="0"/>
              </a:defRPr>
            </a:lvl2pPr>
            <a:lvl3pPr>
              <a:defRPr sz="1600">
                <a:latin typeface="Calibri" panose="020F0502020204030204" pitchFamily="34" charset="0"/>
                <a:ea typeface="Open Sans Light" panose="020B0306030504020204" pitchFamily="34" charset="0"/>
                <a:cs typeface="Calibri" panose="020F0502020204030204" pitchFamily="34" charset="0"/>
              </a:defRPr>
            </a:lvl3pPr>
            <a:lvl4pPr>
              <a:defRPr sz="1400">
                <a:latin typeface="Calibri" panose="020F0502020204030204" pitchFamily="34" charset="0"/>
                <a:ea typeface="Open Sans Light" panose="020B0306030504020204" pitchFamily="34" charset="0"/>
                <a:cs typeface="Calibri" panose="020F0502020204030204" pitchFamily="34" charset="0"/>
              </a:defRPr>
            </a:lvl4pPr>
            <a:lvl5pPr>
              <a:defRPr sz="1400">
                <a:latin typeface="Calibri" panose="020F0502020204030204" pitchFamily="34" charset="0"/>
                <a:ea typeface="Open Sans Light" panose="020B0306030504020204" pitchFamily="34" charset="0"/>
                <a:cs typeface="Calibri" panose="020F0502020204030204" pitchFamily="34" charset="0"/>
              </a:defRPr>
            </a:lvl5pPr>
          </a:lstStyle>
          <a:p>
            <a:pPr lvl="0"/>
            <a:r>
              <a:rPr lang="es-ES" dirty="0"/>
              <a:t>Texto del contenido</a:t>
            </a:r>
          </a:p>
          <a:p>
            <a:pPr lvl="1"/>
            <a:r>
              <a:rPr lang="es-ES" dirty="0"/>
              <a:t>Segundo nivel</a:t>
            </a:r>
          </a:p>
          <a:p>
            <a:pPr lvl="2"/>
            <a:r>
              <a:rPr lang="es-ES" dirty="0"/>
              <a:t>Tercer nivel</a:t>
            </a:r>
          </a:p>
          <a:p>
            <a:pPr lvl="3"/>
            <a:r>
              <a:rPr lang="es-ES" dirty="0"/>
              <a:t>Cuarto nivel</a:t>
            </a:r>
          </a:p>
          <a:p>
            <a:pPr lvl="4"/>
            <a:r>
              <a:rPr lang="es-ES" dirty="0"/>
              <a:t>Quinto nivel</a:t>
            </a:r>
          </a:p>
        </p:txBody>
      </p:sp>
      <p:sp>
        <p:nvSpPr>
          <p:cNvPr id="23" name="Marcador de texto 22"/>
          <p:cNvSpPr>
            <a:spLocks noGrp="1"/>
          </p:cNvSpPr>
          <p:nvPr>
            <p:ph type="body" sz="quarter" idx="11" hasCustomPrompt="1"/>
          </p:nvPr>
        </p:nvSpPr>
        <p:spPr>
          <a:xfrm>
            <a:off x="736652" y="730647"/>
            <a:ext cx="7778317" cy="381000"/>
          </a:xfrm>
        </p:spPr>
        <p:txBody>
          <a:bodyPr>
            <a:noAutofit/>
          </a:bodyPr>
          <a:lstStyle>
            <a:lvl1pPr marL="0" indent="0">
              <a:buNone/>
              <a:defRPr sz="2000">
                <a:latin typeface="Calibri" panose="020F0502020204030204" pitchFamily="34" charset="0"/>
                <a:ea typeface="Open Sans Light" panose="020B0306030504020204" pitchFamily="34" charset="0"/>
                <a:cs typeface="Calibri" panose="020F0502020204030204" pitchFamily="34" charset="0"/>
              </a:defRPr>
            </a:lvl1pPr>
          </a:lstStyle>
          <a:p>
            <a:pPr lvl="0"/>
            <a:r>
              <a:rPr lang="es-ES" dirty="0"/>
              <a:t>Subtítulo del artículo con una explicación corta a modo resumen</a:t>
            </a:r>
          </a:p>
        </p:txBody>
      </p:sp>
      <p:sp>
        <p:nvSpPr>
          <p:cNvPr id="11" name="Date Placeholder 3"/>
          <p:cNvSpPr>
            <a:spLocks noGrp="1"/>
          </p:cNvSpPr>
          <p:nvPr>
            <p:ph type="dt" sz="half" idx="2"/>
          </p:nvPr>
        </p:nvSpPr>
        <p:spPr>
          <a:xfrm>
            <a:off x="609600" y="6387407"/>
            <a:ext cx="1980287" cy="303019"/>
          </a:xfrm>
          <a:prstGeom prst="rect">
            <a:avLst/>
          </a:prstGeom>
        </p:spPr>
        <p:txBody>
          <a:bodyPr vert="horz" lIns="117208" tIns="58604" rIns="117208" bIns="58604" rtlCol="0" anchor="ctr"/>
          <a:lstStyle>
            <a:lvl1pPr algn="l">
              <a:defRPr sz="1200">
                <a:solidFill>
                  <a:schemeClr val="tx1">
                    <a:tint val="75000"/>
                  </a:schemeClr>
                </a:solidFill>
              </a:defRPr>
            </a:lvl1pPr>
          </a:lstStyle>
          <a:p>
            <a:endParaRPr lang="en-US" dirty="0"/>
          </a:p>
        </p:txBody>
      </p:sp>
      <p:sp>
        <p:nvSpPr>
          <p:cNvPr id="12" name="Footer Placeholder 4"/>
          <p:cNvSpPr>
            <a:spLocks noGrp="1"/>
          </p:cNvSpPr>
          <p:nvPr>
            <p:ph type="ftr" sz="quarter" idx="3"/>
          </p:nvPr>
        </p:nvSpPr>
        <p:spPr>
          <a:xfrm>
            <a:off x="2894768" y="6387407"/>
            <a:ext cx="6402465" cy="303019"/>
          </a:xfrm>
          <a:prstGeom prst="rect">
            <a:avLst/>
          </a:prstGeom>
        </p:spPr>
        <p:txBody>
          <a:bodyPr vert="horz" lIns="117208" tIns="58604" rIns="117208" bIns="58604" rtlCol="0" anchor="ctr"/>
          <a:lstStyle>
            <a:lvl1pPr algn="ctr">
              <a:defRPr sz="1200">
                <a:solidFill>
                  <a:schemeClr val="tx1">
                    <a:tint val="75000"/>
                  </a:schemeClr>
                </a:solidFill>
              </a:defRPr>
            </a:lvl1pPr>
          </a:lstStyle>
          <a:p>
            <a:r>
              <a:rPr lang="en-US"/>
              <a:t>LAB 3.0. CIRCUITS &amp; COMPACT MODELS</a:t>
            </a:r>
          </a:p>
        </p:txBody>
      </p:sp>
      <p:sp>
        <p:nvSpPr>
          <p:cNvPr id="14" name="Slide Number Placeholder 5"/>
          <p:cNvSpPr>
            <a:spLocks noGrp="1"/>
          </p:cNvSpPr>
          <p:nvPr>
            <p:ph type="sldNum" sz="quarter" idx="4"/>
          </p:nvPr>
        </p:nvSpPr>
        <p:spPr>
          <a:xfrm>
            <a:off x="11431389" y="6388096"/>
            <a:ext cx="760611" cy="303019"/>
          </a:xfrm>
          <a:prstGeom prst="rect">
            <a:avLst/>
          </a:prstGeom>
          <a:solidFill>
            <a:schemeClr val="bg2"/>
          </a:solidFill>
        </p:spPr>
        <p:txBody>
          <a:bodyPr vert="horz" lIns="117208" tIns="58604" rIns="117208" bIns="58604" rtlCol="0" anchor="ctr"/>
          <a:lstStyle>
            <a:lvl1pPr algn="r">
              <a:defRPr sz="1200">
                <a:solidFill>
                  <a:srgbClr val="FF6309"/>
                </a:solidFill>
              </a:defRPr>
            </a:lvl1pPr>
          </a:lstStyle>
          <a:p>
            <a:fld id="{C2F52289-4012-4053-9770-FE82CEB9514F}" type="slidenum">
              <a:rPr lang="en-US" smtClean="0"/>
              <a:pPr/>
              <a:t>‹#›</a:t>
            </a:fld>
            <a:endParaRPr lang="en-US" dirty="0"/>
          </a:p>
        </p:txBody>
      </p:sp>
    </p:spTree>
    <p:extLst>
      <p:ext uri="{BB962C8B-B14F-4D97-AF65-F5344CB8AC3E}">
        <p14:creationId xmlns:p14="http://schemas.microsoft.com/office/powerpoint/2010/main" val="3024640384"/>
      </p:ext>
    </p:extLst>
  </p:cSld>
  <p:clrMapOvr>
    <a:masterClrMapping/>
  </p:clrMapOvr>
  <p:extLst>
    <p:ext uri="{DCECCB84-F9BA-43D5-87BE-67443E8EF086}">
      <p15:sldGuideLst xmlns:p15="http://schemas.microsoft.com/office/powerpoint/2012/main">
        <p15:guide id="1" orient="horz" pos="2160">
          <p15:clr>
            <a:srgbClr val="FBAE40"/>
          </p15:clr>
        </p15:guide>
        <p15:guide id="2" pos="3839">
          <p15:clr>
            <a:srgbClr val="FBAE40"/>
          </p15:clr>
        </p15:guide>
      </p15:sldGuideLst>
    </p:ext>
  </p:extLst>
</p:sldLayout>
</file>

<file path=ppt/slideMasters/_rels/slideMaster1.xml.rels><?xml version="1.0" encoding="UTF-8" standalone="yes"?>
<Relationships xmlns="http://schemas.openxmlformats.org/package/2006/relationships"><Relationship Id="rId8"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6" name="bk object 16"/>
          <p:cNvSpPr/>
          <p:nvPr/>
        </p:nvSpPr>
        <p:spPr>
          <a:xfrm>
            <a:off x="891539" y="5283707"/>
            <a:ext cx="2624328" cy="1574289"/>
          </a:xfrm>
          <a:prstGeom prst="rect">
            <a:avLst/>
          </a:prstGeom>
          <a:blipFill>
            <a:blip r:embed="rId8" cstate="print"/>
            <a:stretch>
              <a:fillRect/>
            </a:stretch>
          </a:blipFill>
        </p:spPr>
        <p:txBody>
          <a:bodyPr wrap="square" lIns="0" tIns="0" rIns="0" bIns="0" rtlCol="0"/>
          <a:lstStyle/>
          <a:p>
            <a:endParaRPr/>
          </a:p>
        </p:txBody>
      </p:sp>
      <p:sp>
        <p:nvSpPr>
          <p:cNvPr id="2" name="Holder 2"/>
          <p:cNvSpPr>
            <a:spLocks noGrp="1"/>
          </p:cNvSpPr>
          <p:nvPr>
            <p:ph type="title"/>
          </p:nvPr>
        </p:nvSpPr>
        <p:spPr>
          <a:xfrm>
            <a:off x="3986910" y="1699005"/>
            <a:ext cx="2599054" cy="269239"/>
          </a:xfrm>
          <a:prstGeom prst="rect">
            <a:avLst/>
          </a:prstGeom>
        </p:spPr>
        <p:txBody>
          <a:bodyPr wrap="square" lIns="0" tIns="0" rIns="0" bIns="0">
            <a:spAutoFit/>
          </a:bodyPr>
          <a:lstStyle>
            <a:lvl1pPr>
              <a:defRPr sz="1600" b="0" i="0">
                <a:solidFill>
                  <a:schemeClr val="tx1"/>
                </a:solidFill>
                <a:latin typeface="Calibri"/>
                <a:cs typeface="Calibri"/>
              </a:defRPr>
            </a:lvl1pPr>
          </a:lstStyle>
          <a:p>
            <a:endParaRPr/>
          </a:p>
        </p:txBody>
      </p:sp>
      <p:sp>
        <p:nvSpPr>
          <p:cNvPr id="3" name="Holder 3"/>
          <p:cNvSpPr>
            <a:spLocks noGrp="1"/>
          </p:cNvSpPr>
          <p:nvPr>
            <p:ph type="body" idx="1"/>
          </p:nvPr>
        </p:nvSpPr>
        <p:spPr>
          <a:xfrm>
            <a:off x="609600" y="1577340"/>
            <a:ext cx="10972800" cy="4526280"/>
          </a:xfrm>
          <a:prstGeom prst="rect">
            <a:avLst/>
          </a:prstGeom>
        </p:spPr>
        <p:txBody>
          <a:bodyPr wrap="square" lIns="0" tIns="0" rIns="0" bIns="0">
            <a:spAutoFit/>
          </a:bodyPr>
          <a:lstStyle>
            <a:lvl1pPr>
              <a:defRPr/>
            </a:lvl1pPr>
          </a:lstStyle>
          <a:p>
            <a:endParaRPr/>
          </a:p>
        </p:txBody>
      </p:sp>
      <p:sp>
        <p:nvSpPr>
          <p:cNvPr id="4" name="Holder 4"/>
          <p:cNvSpPr>
            <a:spLocks noGrp="1"/>
          </p:cNvSpPr>
          <p:nvPr>
            <p:ph type="ftr" sz="quarter" idx="5"/>
          </p:nvPr>
        </p:nvSpPr>
        <p:spPr>
          <a:xfrm>
            <a:off x="5695950" y="6465068"/>
            <a:ext cx="1210945" cy="153670"/>
          </a:xfrm>
          <a:prstGeom prst="rect">
            <a:avLst/>
          </a:prstGeom>
        </p:spPr>
        <p:txBody>
          <a:bodyPr wrap="square" lIns="0" tIns="0" rIns="0" bIns="0">
            <a:spAutoFit/>
          </a:bodyPr>
          <a:lstStyle>
            <a:lvl1pPr>
              <a:defRPr sz="900" b="0" i="0">
                <a:solidFill>
                  <a:srgbClr val="585858"/>
                </a:solidFill>
                <a:latin typeface="Arial"/>
                <a:cs typeface="Arial"/>
              </a:defRPr>
            </a:lvl1pPr>
          </a:lstStyle>
          <a:p>
            <a:pPr marL="12700">
              <a:lnSpc>
                <a:spcPct val="100000"/>
              </a:lnSpc>
              <a:spcBef>
                <a:spcPts val="15"/>
              </a:spcBef>
            </a:pPr>
            <a:r>
              <a:rPr lang="es-ES" spc="-5"/>
              <a:t>LAB 3.0. CIRCUITS &amp; COMPACT MODELS</a:t>
            </a:r>
            <a:endParaRPr spc="-5" dirty="0"/>
          </a:p>
        </p:txBody>
      </p:sp>
      <p:sp>
        <p:nvSpPr>
          <p:cNvPr id="5" name="Holder 5"/>
          <p:cNvSpPr>
            <a:spLocks noGrp="1"/>
          </p:cNvSpPr>
          <p:nvPr>
            <p:ph type="dt" sz="half" idx="6"/>
          </p:nvPr>
        </p:nvSpPr>
        <p:spPr>
          <a:xfrm>
            <a:off x="609600" y="6377940"/>
            <a:ext cx="2804160" cy="342900"/>
          </a:xfrm>
          <a:prstGeom prst="rect">
            <a:avLst/>
          </a:prstGeom>
        </p:spPr>
        <p:txBody>
          <a:bodyPr wrap="square" lIns="0" tIns="0" rIns="0" bIns="0">
            <a:spAutoFit/>
          </a:bodyPr>
          <a:lstStyle>
            <a:lvl1pPr algn="l">
              <a:defRPr>
                <a:solidFill>
                  <a:schemeClr val="tx1">
                    <a:tint val="75000"/>
                  </a:schemeClr>
                </a:solidFill>
              </a:defRPr>
            </a:lvl1pPr>
          </a:lstStyle>
          <a:p>
            <a:endParaRPr lang="en-US"/>
          </a:p>
        </p:txBody>
      </p:sp>
      <p:sp>
        <p:nvSpPr>
          <p:cNvPr id="6" name="Holder 6"/>
          <p:cNvSpPr>
            <a:spLocks noGrp="1"/>
          </p:cNvSpPr>
          <p:nvPr>
            <p:ph type="sldNum" sz="quarter" idx="7"/>
          </p:nvPr>
        </p:nvSpPr>
        <p:spPr>
          <a:xfrm>
            <a:off x="9311640" y="6377940"/>
            <a:ext cx="2804160" cy="342900"/>
          </a:xfrm>
          <a:prstGeom prst="rect">
            <a:avLst/>
          </a:prstGeom>
        </p:spPr>
        <p:txBody>
          <a:bodyPr wrap="square" lIns="0" tIns="0" rIns="0" bIns="0">
            <a:spAutoFit/>
          </a:bodyPr>
          <a:lstStyle>
            <a:lvl1pPr algn="r">
              <a:defRPr>
                <a:solidFill>
                  <a:schemeClr val="tx1">
                    <a:tint val="75000"/>
                  </a:schemeClr>
                </a:solidFill>
              </a:defRPr>
            </a:lvl1pPr>
          </a:lstStyle>
          <a:p>
            <a:fld id="{B6F15528-21DE-4FAA-801E-634DDDAF4B2B}" type="slidenum">
              <a:t>‹#›</a:t>
            </a:fld>
            <a:endParaRPr/>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Lst>
  <p:hf hdr="0" dt="0"/>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5.xml"/></Relationships>
</file>

<file path=ppt/slides/_rels/slide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3.svg"/><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3.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image" Target="../media/image8.png"/></Relationships>
</file>

<file path=ppt/slides/_rels/slide4.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9.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3.sv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3.svg"/><Relationship Id="rId1" Type="http://schemas.openxmlformats.org/officeDocument/2006/relationships/slideLayout" Target="../slideLayouts/slideLayout2.xml"/><Relationship Id="rId4" Type="http://schemas.openxmlformats.org/officeDocument/2006/relationships/image" Target="../media/image14.png"/></Relationships>
</file>

<file path=ppt/slides/_rels/slide11.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3.svg"/><Relationship Id="rId1" Type="http://schemas.openxmlformats.org/officeDocument/2006/relationships/slideLayout" Target="../slideLayouts/slideLayout2.xml"/><Relationship Id="rId4" Type="http://schemas.openxmlformats.org/officeDocument/2006/relationships/image" Target="../media/image16.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3.sv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3.svg"/><Relationship Id="rId1" Type="http://schemas.openxmlformats.org/officeDocument/2006/relationships/slideLayout" Target="../slideLayouts/slideLayout2.xml"/><Relationship Id="rId4" Type="http://schemas.openxmlformats.org/officeDocument/2006/relationships/image" Target="../media/image19.png"/></Relationships>
</file>

<file path=ppt/slides/_rels/slide15.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p:nvPr/>
        </p:nvSpPr>
        <p:spPr>
          <a:xfrm>
            <a:off x="2749676" y="4919853"/>
            <a:ext cx="9213724" cy="505267"/>
          </a:xfrm>
          <a:prstGeom prst="rect">
            <a:avLst/>
          </a:prstGeom>
        </p:spPr>
        <p:txBody>
          <a:bodyPr vert="horz" wrap="square" lIns="0" tIns="12700" rIns="0" bIns="0" rtlCol="0">
            <a:spAutoFit/>
          </a:bodyPr>
          <a:lstStyle/>
          <a:p>
            <a:pPr marL="12700">
              <a:lnSpc>
                <a:spcPct val="100000"/>
              </a:lnSpc>
              <a:spcBef>
                <a:spcPts val="100"/>
              </a:spcBef>
            </a:pPr>
            <a:r>
              <a:rPr lang="es-ES" sz="3200" b="1" dirty="0">
                <a:latin typeface="Lucida Sans"/>
                <a:cs typeface="Lucida Sans"/>
              </a:rPr>
              <a:t>Lab Book 3.0 Circuits and Compact </a:t>
            </a:r>
            <a:r>
              <a:rPr lang="es-ES" sz="3200" b="1" dirty="0" err="1">
                <a:latin typeface="Lucida Sans"/>
                <a:cs typeface="Lucida Sans"/>
              </a:rPr>
              <a:t>Models</a:t>
            </a:r>
            <a:endParaRPr sz="3200" dirty="0">
              <a:latin typeface="Lucida Sans"/>
              <a:cs typeface="Lucida Sans"/>
            </a:endParaRPr>
          </a:p>
        </p:txBody>
      </p:sp>
      <p:sp>
        <p:nvSpPr>
          <p:cNvPr id="4" name="object 4"/>
          <p:cNvSpPr txBox="1"/>
          <p:nvPr/>
        </p:nvSpPr>
        <p:spPr>
          <a:xfrm>
            <a:off x="2749676" y="5610250"/>
            <a:ext cx="8223124" cy="289823"/>
          </a:xfrm>
          <a:prstGeom prst="rect">
            <a:avLst/>
          </a:prstGeom>
        </p:spPr>
        <p:txBody>
          <a:bodyPr vert="horz" wrap="square" lIns="0" tIns="12700" rIns="0" bIns="0" rtlCol="0">
            <a:spAutoFit/>
          </a:bodyPr>
          <a:lstStyle/>
          <a:p>
            <a:pPr marL="12700">
              <a:lnSpc>
                <a:spcPct val="100000"/>
              </a:lnSpc>
              <a:spcBef>
                <a:spcPts val="100"/>
              </a:spcBef>
            </a:pPr>
            <a:r>
              <a:rPr lang="es-ES" spc="165" dirty="0" err="1">
                <a:latin typeface="Arial"/>
                <a:cs typeface="Arial"/>
              </a:rPr>
              <a:t>Student</a:t>
            </a:r>
            <a:r>
              <a:rPr lang="es-ES" spc="165" dirty="0">
                <a:latin typeface="Arial"/>
                <a:cs typeface="Arial"/>
              </a:rPr>
              <a:t>: </a:t>
            </a:r>
            <a:endParaRPr sz="1800" dirty="0">
              <a:latin typeface="Arial"/>
              <a:cs typeface="Arial"/>
            </a:endParaRPr>
          </a:p>
        </p:txBody>
      </p:sp>
      <p:sp>
        <p:nvSpPr>
          <p:cNvPr id="5" name="object 5"/>
          <p:cNvSpPr/>
          <p:nvPr/>
        </p:nvSpPr>
        <p:spPr>
          <a:xfrm>
            <a:off x="0" y="0"/>
            <a:ext cx="12192000" cy="4189476"/>
          </a:xfrm>
          <a:prstGeom prst="rect">
            <a:avLst/>
          </a:prstGeom>
          <a:blipFill>
            <a:blip r:embed="rId2" cstate="print"/>
            <a:stretch>
              <a:fillRect/>
            </a:stretch>
          </a:blipFill>
        </p:spPr>
        <p:txBody>
          <a:bodyPr wrap="square" lIns="0" tIns="0" rIns="0" bIns="0" rtlCol="0"/>
          <a:lstStyle/>
          <a:p>
            <a:endParaRPr/>
          </a:p>
        </p:txBody>
      </p:sp>
      <p:sp>
        <p:nvSpPr>
          <p:cNvPr id="7" name="Marcador de número de diapositiva 6">
            <a:extLst>
              <a:ext uri="{FF2B5EF4-FFF2-40B4-BE49-F238E27FC236}">
                <a16:creationId xmlns:a16="http://schemas.microsoft.com/office/drawing/2014/main" id="{F6F66F51-9238-50FE-85C2-BAC3DA79D767}"/>
              </a:ext>
            </a:extLst>
          </p:cNvPr>
          <p:cNvSpPr>
            <a:spLocks noGrp="1"/>
          </p:cNvSpPr>
          <p:nvPr>
            <p:ph type="sldNum" sz="quarter" idx="7"/>
          </p:nvPr>
        </p:nvSpPr>
        <p:spPr/>
        <p:txBody>
          <a:bodyPr/>
          <a:lstStyle/>
          <a:p>
            <a:fld id="{B6F15528-21DE-4FAA-801E-634DDDAF4B2B}" type="slidenum">
              <a:rPr lang="es-ES" smtClean="0"/>
              <a:t>1</a:t>
            </a:fld>
            <a:endParaRPr lang="es-E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48A4D4-C3C4-085B-A7AD-EA04D83F480F}"/>
            </a:ext>
          </a:extLst>
        </p:cNvPr>
        <p:cNvGrpSpPr/>
        <p:nvPr/>
      </p:nvGrpSpPr>
      <p:grpSpPr>
        <a:xfrm>
          <a:off x="0" y="0"/>
          <a:ext cx="0" cy="0"/>
          <a:chOff x="0" y="0"/>
          <a:chExt cx="0" cy="0"/>
        </a:xfrm>
      </p:grpSpPr>
      <p:sp>
        <p:nvSpPr>
          <p:cNvPr id="16" name="object 16">
            <a:extLst>
              <a:ext uri="{FF2B5EF4-FFF2-40B4-BE49-F238E27FC236}">
                <a16:creationId xmlns:a16="http://schemas.microsoft.com/office/drawing/2014/main" id="{1B7433F1-7A0E-D925-6140-7305139D053A}"/>
              </a:ext>
            </a:extLst>
          </p:cNvPr>
          <p:cNvSpPr txBox="1">
            <a:spLocks noGrp="1"/>
          </p:cNvSpPr>
          <p:nvPr>
            <p:ph type="title"/>
          </p:nvPr>
        </p:nvSpPr>
        <p:spPr>
          <a:xfrm>
            <a:off x="685800" y="408883"/>
            <a:ext cx="6153785" cy="705321"/>
          </a:xfrm>
          <a:prstGeom prst="rect">
            <a:avLst/>
          </a:prstGeom>
        </p:spPr>
        <p:txBody>
          <a:bodyPr vert="horz" wrap="square" lIns="0" tIns="12700" rIns="0" bIns="0" rtlCol="0">
            <a:spAutoFit/>
          </a:bodyPr>
          <a:lstStyle/>
          <a:p>
            <a:pPr marL="12700">
              <a:lnSpc>
                <a:spcPct val="100000"/>
              </a:lnSpc>
              <a:spcBef>
                <a:spcPts val="100"/>
              </a:spcBef>
            </a:pPr>
            <a:r>
              <a:rPr lang="es-ES" sz="2500" u="sng" spc="-5" dirty="0" err="1">
                <a:latin typeface="+mj-lt"/>
                <a:cs typeface="Lucida Sans"/>
              </a:rPr>
              <a:t>Instructions</a:t>
            </a:r>
            <a:br>
              <a:rPr lang="es-ES" sz="2400" spc="-5" dirty="0">
                <a:latin typeface="+mj-lt"/>
                <a:cs typeface="Lucida Sans"/>
              </a:rPr>
            </a:br>
            <a:r>
              <a:rPr lang="es-ES" b="0" spc="-5" dirty="0">
                <a:latin typeface="+mj-lt"/>
                <a:cs typeface="Lucida Sans"/>
              </a:rPr>
              <a:t>General</a:t>
            </a:r>
            <a:endParaRPr sz="2400" b="0" dirty="0">
              <a:latin typeface="+mj-lt"/>
              <a:cs typeface="Lucida Sans"/>
            </a:endParaRPr>
          </a:p>
        </p:txBody>
      </p:sp>
      <p:pic>
        <p:nvPicPr>
          <p:cNvPr id="83" name="Gráfico 82">
            <a:extLst>
              <a:ext uri="{FF2B5EF4-FFF2-40B4-BE49-F238E27FC236}">
                <a16:creationId xmlns:a16="http://schemas.microsoft.com/office/drawing/2014/main" id="{E518E73B-CE22-A00C-9C86-634FB762EE69}"/>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5045006" y="6356057"/>
            <a:ext cx="6409575" cy="363174"/>
          </a:xfrm>
          <a:prstGeom prst="rect">
            <a:avLst/>
          </a:prstGeom>
        </p:spPr>
      </p:pic>
      <p:sp>
        <p:nvSpPr>
          <p:cNvPr id="84" name="Marcador de número de diapositiva 83">
            <a:extLst>
              <a:ext uri="{FF2B5EF4-FFF2-40B4-BE49-F238E27FC236}">
                <a16:creationId xmlns:a16="http://schemas.microsoft.com/office/drawing/2014/main" id="{1E163A6B-DFE4-C67D-5F3E-A56ACEF2EA4C}"/>
              </a:ext>
            </a:extLst>
          </p:cNvPr>
          <p:cNvSpPr>
            <a:spLocks noGrp="1"/>
          </p:cNvSpPr>
          <p:nvPr>
            <p:ph type="sldNum" sz="quarter" idx="7"/>
          </p:nvPr>
        </p:nvSpPr>
        <p:spPr/>
        <p:txBody>
          <a:bodyPr/>
          <a:lstStyle/>
          <a:p>
            <a:fld id="{B6F15528-21DE-4FAA-801E-634DDDAF4B2B}" type="slidenum">
              <a:rPr lang="es-ES" smtClean="0"/>
              <a:t>2</a:t>
            </a:fld>
            <a:endParaRPr lang="es-ES"/>
          </a:p>
        </p:txBody>
      </p:sp>
      <p:sp>
        <p:nvSpPr>
          <p:cNvPr id="3" name="Marcador de pie de página 2">
            <a:extLst>
              <a:ext uri="{FF2B5EF4-FFF2-40B4-BE49-F238E27FC236}">
                <a16:creationId xmlns:a16="http://schemas.microsoft.com/office/drawing/2014/main" id="{95FC84FF-30D3-FDAB-0A5A-0F07F8EE1161}"/>
              </a:ext>
            </a:extLst>
          </p:cNvPr>
          <p:cNvSpPr>
            <a:spLocks noGrp="1"/>
          </p:cNvSpPr>
          <p:nvPr>
            <p:ph type="ftr" sz="quarter" idx="5"/>
          </p:nvPr>
        </p:nvSpPr>
        <p:spPr/>
        <p:txBody>
          <a:bodyPr/>
          <a:lstStyle/>
          <a:p>
            <a:pPr marL="12700">
              <a:spcBef>
                <a:spcPts val="15"/>
              </a:spcBef>
            </a:pPr>
            <a:r>
              <a:rPr lang="es-ES" spc="-5"/>
              <a:t>LAB 3.0. CIRCUITS &amp; COMPACT MODELS</a:t>
            </a:r>
            <a:endParaRPr lang="es-ES" spc="-5" dirty="0"/>
          </a:p>
        </p:txBody>
      </p:sp>
      <p:sp>
        <p:nvSpPr>
          <p:cNvPr id="4" name="Marcador de texto 2">
            <a:extLst>
              <a:ext uri="{FF2B5EF4-FFF2-40B4-BE49-F238E27FC236}">
                <a16:creationId xmlns:a16="http://schemas.microsoft.com/office/drawing/2014/main" id="{9F7BC140-B3D8-C3CB-55AD-9064C7CDE9CA}"/>
              </a:ext>
            </a:extLst>
          </p:cNvPr>
          <p:cNvSpPr txBox="1">
            <a:spLocks/>
          </p:cNvSpPr>
          <p:nvPr/>
        </p:nvSpPr>
        <p:spPr>
          <a:xfrm>
            <a:off x="608011" y="1163263"/>
            <a:ext cx="11048999" cy="4958137"/>
          </a:xfrm>
          <a:prstGeom prst="rect">
            <a:avLst/>
          </a:prstGeom>
        </p:spPr>
        <p:txBody>
          <a:bodyPr>
            <a:normAutofit/>
          </a:bodyPr>
          <a:lst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a:lstStyle>
          <a:p>
            <a:pPr algn="just"/>
            <a:r>
              <a:rPr lang="en-US" sz="2000" b="1" kern="0" dirty="0">
                <a:solidFill>
                  <a:sysClr val="windowText" lastClr="000000"/>
                </a:solidFill>
                <a:sym typeface="Wingdings" pitchFamily="2" charset="2"/>
              </a:rPr>
              <a:t>SCRIPTS</a:t>
            </a:r>
          </a:p>
          <a:p>
            <a:pPr marL="342900" indent="-342900" algn="just">
              <a:buFont typeface="Arial" panose="020B0604020202020204" pitchFamily="34" charset="0"/>
              <a:buChar char="•"/>
            </a:pPr>
            <a:r>
              <a:rPr lang="en-US" kern="0" dirty="0">
                <a:solidFill>
                  <a:sysClr val="windowText" lastClr="000000"/>
                </a:solidFill>
                <a:sym typeface="Wingdings" pitchFamily="2" charset="2"/>
              </a:rPr>
              <a:t>From 	GitHub  </a:t>
            </a:r>
          </a:p>
          <a:p>
            <a:pPr marL="800100" lvl="1" indent="-342900" algn="just">
              <a:buFont typeface="Arial" panose="020B0604020202020204" pitchFamily="34" charset="0"/>
              <a:buChar char="•"/>
            </a:pPr>
            <a:r>
              <a:rPr lang="en-US" kern="0" dirty="0">
                <a:solidFill>
                  <a:sysClr val="windowText" lastClr="000000"/>
                </a:solidFill>
                <a:sym typeface="Wingdings" pitchFamily="2" charset="2"/>
              </a:rPr>
              <a:t>Fork the repo: https://github.com/cccanvas-upv/cifoin-lab3.git</a:t>
            </a:r>
          </a:p>
          <a:p>
            <a:pPr marL="800100" lvl="1" indent="-342900" algn="just">
              <a:buFont typeface="Arial" panose="020B0604020202020204" pitchFamily="34" charset="0"/>
              <a:buChar char="•"/>
            </a:pPr>
            <a:r>
              <a:rPr lang="en-US" kern="0" dirty="0">
                <a:solidFill>
                  <a:sysClr val="windowText" lastClr="000000"/>
                </a:solidFill>
                <a:sym typeface="Wingdings" pitchFamily="2" charset="2"/>
              </a:rPr>
              <a:t>Clone the repo using </a:t>
            </a:r>
            <a:r>
              <a:rPr lang="en-US" kern="0" dirty="0" err="1">
                <a:solidFill>
                  <a:sysClr val="windowText" lastClr="000000"/>
                </a:solidFill>
                <a:sym typeface="Wingdings" pitchFamily="2" charset="2"/>
              </a:rPr>
              <a:t>VSCode</a:t>
            </a:r>
            <a:endParaRPr lang="en-US" kern="0" dirty="0">
              <a:solidFill>
                <a:sysClr val="windowText" lastClr="000000"/>
              </a:solidFill>
              <a:sym typeface="Wingdings" pitchFamily="2" charset="2"/>
            </a:endParaRPr>
          </a:p>
          <a:p>
            <a:pPr marL="342900" indent="-342900" algn="just">
              <a:buFont typeface="Arial" panose="020B0604020202020204" pitchFamily="34" charset="0"/>
              <a:buChar char="•"/>
            </a:pPr>
            <a:r>
              <a:rPr lang="en-US" kern="0" dirty="0">
                <a:solidFill>
                  <a:sysClr val="windowText" lastClr="000000"/>
                </a:solidFill>
              </a:rPr>
              <a:t>Run the </a:t>
            </a:r>
            <a:r>
              <a:rPr lang="en-US" kern="0" dirty="0" err="1">
                <a:solidFill>
                  <a:sysClr val="windowText" lastClr="000000"/>
                </a:solidFill>
              </a:rPr>
              <a:t>Jupyter</a:t>
            </a:r>
            <a:r>
              <a:rPr lang="en-US" kern="0" dirty="0">
                <a:solidFill>
                  <a:sysClr val="windowText" lastClr="000000"/>
                </a:solidFill>
              </a:rPr>
              <a:t> Notebook: </a:t>
            </a:r>
          </a:p>
          <a:p>
            <a:pPr marL="800100" lvl="1" indent="-342900" algn="just">
              <a:buFont typeface="Arial" panose="020B0604020202020204" pitchFamily="34" charset="0"/>
              <a:buChar char="•"/>
            </a:pPr>
            <a:r>
              <a:rPr lang="en-US" kern="0" dirty="0">
                <a:solidFill>
                  <a:sysClr val="windowText" lastClr="000000"/>
                </a:solidFill>
              </a:rPr>
              <a:t>CIRCUITS_&amp;_</a:t>
            </a:r>
            <a:r>
              <a:rPr lang="en-US" kern="0" dirty="0" err="1">
                <a:solidFill>
                  <a:sysClr val="windowText" lastClr="000000"/>
                </a:solidFill>
              </a:rPr>
              <a:t>COMPACT_MODELS.ipynb</a:t>
            </a:r>
            <a:r>
              <a:rPr lang="en-US" kern="0" dirty="0">
                <a:solidFill>
                  <a:sysClr val="windowText" lastClr="000000"/>
                </a:solidFill>
              </a:rPr>
              <a:t> </a:t>
            </a:r>
          </a:p>
          <a:p>
            <a:pPr algn="just"/>
            <a:endParaRPr lang="en-US" b="1" i="1" dirty="0"/>
          </a:p>
          <a:p>
            <a:pPr algn="just"/>
            <a:r>
              <a:rPr lang="en-US" b="1" i="1" dirty="0"/>
              <a:t>Devices </a:t>
            </a:r>
            <a:r>
              <a:rPr lang="en-US" i="1" dirty="0"/>
              <a:t>to be studied:</a:t>
            </a:r>
            <a:endParaRPr lang="en-US" b="1" i="1" dirty="0"/>
          </a:p>
          <a:p>
            <a:pPr algn="just"/>
            <a:endParaRPr lang="en-US" sz="2000" b="1" i="1" dirty="0"/>
          </a:p>
          <a:p>
            <a:pPr algn="just"/>
            <a:endParaRPr lang="en-US" sz="2000" kern="0" dirty="0">
              <a:solidFill>
                <a:sysClr val="windowText" lastClr="000000"/>
              </a:solidFill>
            </a:endParaRPr>
          </a:p>
        </p:txBody>
      </p:sp>
      <p:sp>
        <p:nvSpPr>
          <p:cNvPr id="2" name="CuadroTexto 1">
            <a:extLst>
              <a:ext uri="{FF2B5EF4-FFF2-40B4-BE49-F238E27FC236}">
                <a16:creationId xmlns:a16="http://schemas.microsoft.com/office/drawing/2014/main" id="{57D9AFBE-EF33-9078-9CE3-5C8B079B0C36}"/>
              </a:ext>
            </a:extLst>
          </p:cNvPr>
          <p:cNvSpPr txBox="1"/>
          <p:nvPr/>
        </p:nvSpPr>
        <p:spPr>
          <a:xfrm>
            <a:off x="8077200" y="5582965"/>
            <a:ext cx="2176237" cy="369332"/>
          </a:xfrm>
          <a:prstGeom prst="rect">
            <a:avLst/>
          </a:prstGeom>
          <a:noFill/>
        </p:spPr>
        <p:txBody>
          <a:bodyPr wrap="none" rtlCol="0">
            <a:spAutoFit/>
          </a:bodyPr>
          <a:lstStyle/>
          <a:p>
            <a:pPr algn="r"/>
            <a:r>
              <a:rPr lang="en-US" b="1" dirty="0"/>
              <a:t>Ring Resonators (RR)</a:t>
            </a:r>
            <a:endParaRPr lang="en-US" dirty="0"/>
          </a:p>
        </p:txBody>
      </p:sp>
      <p:sp>
        <p:nvSpPr>
          <p:cNvPr id="8" name="CuadroTexto 7">
            <a:extLst>
              <a:ext uri="{FF2B5EF4-FFF2-40B4-BE49-F238E27FC236}">
                <a16:creationId xmlns:a16="http://schemas.microsoft.com/office/drawing/2014/main" id="{7336B5D8-2D70-3E7A-336D-AF55EC49DEB8}"/>
              </a:ext>
            </a:extLst>
          </p:cNvPr>
          <p:cNvSpPr txBox="1"/>
          <p:nvPr/>
        </p:nvSpPr>
        <p:spPr>
          <a:xfrm>
            <a:off x="1039582" y="5579058"/>
            <a:ext cx="4176324" cy="369332"/>
          </a:xfrm>
          <a:prstGeom prst="rect">
            <a:avLst/>
          </a:prstGeom>
          <a:noFill/>
        </p:spPr>
        <p:txBody>
          <a:bodyPr wrap="square">
            <a:spAutoFit/>
          </a:bodyPr>
          <a:lstStyle/>
          <a:p>
            <a:pPr algn="ctr"/>
            <a:r>
              <a:rPr lang="en-US" b="1" dirty="0"/>
              <a:t>Mach-Zehnder Interferometer (MZI)</a:t>
            </a:r>
            <a:endParaRPr lang="en-US" dirty="0"/>
          </a:p>
        </p:txBody>
      </p:sp>
      <p:pic>
        <p:nvPicPr>
          <p:cNvPr id="6" name="Imagen 5" descr="Forma, Rectángulo&#10;&#10;El contenido generado por IA puede ser incorrecto.">
            <a:extLst>
              <a:ext uri="{FF2B5EF4-FFF2-40B4-BE49-F238E27FC236}">
                <a16:creationId xmlns:a16="http://schemas.microsoft.com/office/drawing/2014/main" id="{91C2AB39-AF40-7700-840D-38F2C1813CBE}"/>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07428" y="3996612"/>
            <a:ext cx="5240632" cy="1246789"/>
          </a:xfrm>
          <a:prstGeom prst="rect">
            <a:avLst/>
          </a:prstGeom>
        </p:spPr>
      </p:pic>
      <p:pic>
        <p:nvPicPr>
          <p:cNvPr id="14" name="Imagen 13" descr="Imagen que contiene Forma&#10;&#10;El contenido generado por IA puede ser incorrecto.">
            <a:extLst>
              <a:ext uri="{FF2B5EF4-FFF2-40B4-BE49-F238E27FC236}">
                <a16:creationId xmlns:a16="http://schemas.microsoft.com/office/drawing/2014/main" id="{43CD26B4-EB7C-61CA-1BCF-B2AD5F6ED004}"/>
              </a:ext>
            </a:extLst>
          </p:cNvPr>
          <p:cNvPicPr>
            <a:picLocks noChangeAspect="1"/>
          </p:cNvPicPr>
          <p:nvPr/>
        </p:nvPicPr>
        <p:blipFill>
          <a:blip r:embed="rId4" cstate="print">
            <a:extLst>
              <a:ext uri="{28A0092B-C50C-407E-A947-70E740481C1C}">
                <a14:useLocalDpi xmlns:a14="http://schemas.microsoft.com/office/drawing/2010/main" val="0"/>
              </a:ext>
            </a:extLst>
          </a:blip>
          <a:srcRect r="68044"/>
          <a:stretch>
            <a:fillRect/>
          </a:stretch>
        </p:blipFill>
        <p:spPr>
          <a:xfrm>
            <a:off x="6624590" y="3638327"/>
            <a:ext cx="2402774" cy="1900395"/>
          </a:xfrm>
          <a:prstGeom prst="rect">
            <a:avLst/>
          </a:prstGeom>
        </p:spPr>
      </p:pic>
      <p:pic>
        <p:nvPicPr>
          <p:cNvPr id="15" name="Imagen 14" descr="Imagen que contiene Forma&#10;&#10;El contenido generado por IA puede ser incorrecto.">
            <a:extLst>
              <a:ext uri="{FF2B5EF4-FFF2-40B4-BE49-F238E27FC236}">
                <a16:creationId xmlns:a16="http://schemas.microsoft.com/office/drawing/2014/main" id="{B296E22E-7EA4-0FD2-7B98-F6CB5BB97AB9}"/>
              </a:ext>
            </a:extLst>
          </p:cNvPr>
          <p:cNvPicPr>
            <a:picLocks noChangeAspect="1"/>
          </p:cNvPicPr>
          <p:nvPr/>
        </p:nvPicPr>
        <p:blipFill>
          <a:blip r:embed="rId4" cstate="print">
            <a:extLst>
              <a:ext uri="{28A0092B-C50C-407E-A947-70E740481C1C}">
                <a14:useLocalDpi xmlns:a14="http://schemas.microsoft.com/office/drawing/2010/main" val="0"/>
              </a:ext>
            </a:extLst>
          </a:blip>
          <a:srcRect l="67258" r="786"/>
          <a:stretch>
            <a:fillRect/>
          </a:stretch>
        </p:blipFill>
        <p:spPr>
          <a:xfrm>
            <a:off x="9354819" y="3650394"/>
            <a:ext cx="2402774" cy="1900395"/>
          </a:xfrm>
          <a:prstGeom prst="rect">
            <a:avLst/>
          </a:prstGeom>
        </p:spPr>
      </p:pic>
    </p:spTree>
    <p:extLst>
      <p:ext uri="{BB962C8B-B14F-4D97-AF65-F5344CB8AC3E}">
        <p14:creationId xmlns:p14="http://schemas.microsoft.com/office/powerpoint/2010/main" val="56023462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80DA9C-35AF-A1D7-01E5-BFD9DEF1550F}"/>
            </a:ext>
          </a:extLst>
        </p:cNvPr>
        <p:cNvGrpSpPr/>
        <p:nvPr/>
      </p:nvGrpSpPr>
      <p:grpSpPr>
        <a:xfrm>
          <a:off x="0" y="0"/>
          <a:ext cx="0" cy="0"/>
          <a:chOff x="0" y="0"/>
          <a:chExt cx="0" cy="0"/>
        </a:xfrm>
      </p:grpSpPr>
      <p:sp>
        <p:nvSpPr>
          <p:cNvPr id="5" name="Rectángulo 4">
            <a:extLst>
              <a:ext uri="{FF2B5EF4-FFF2-40B4-BE49-F238E27FC236}">
                <a16:creationId xmlns:a16="http://schemas.microsoft.com/office/drawing/2014/main" id="{228A8A28-0D43-C564-7B6A-20F75755616A}"/>
              </a:ext>
            </a:extLst>
          </p:cNvPr>
          <p:cNvSpPr/>
          <p:nvPr/>
        </p:nvSpPr>
        <p:spPr>
          <a:xfrm>
            <a:off x="6476400" y="1418373"/>
            <a:ext cx="5332571" cy="3306028"/>
          </a:xfrm>
          <a:prstGeom prst="rect">
            <a:avLst/>
          </a:prstGeom>
          <a:solidFill>
            <a:schemeClr val="bg1">
              <a:lumMod val="95000"/>
            </a:schemeClr>
          </a:solid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t" anchorCtr="0"/>
          <a:lstStyle/>
          <a:p>
            <a:pPr algn="just"/>
            <a:endParaRPr lang="en-US" sz="1600" dirty="0">
              <a:solidFill>
                <a:schemeClr val="tx1"/>
              </a:solidFill>
              <a:latin typeface="Arial" panose="020B0604020202020204" pitchFamily="34" charset="0"/>
              <a:cs typeface="Arial" panose="020B0604020202020204" pitchFamily="34" charset="0"/>
              <a:sym typeface="Wingdings" pitchFamily="2" charset="2"/>
            </a:endParaRPr>
          </a:p>
          <a:p>
            <a:pPr algn="just"/>
            <a:endParaRPr lang="en-US" sz="1600" dirty="0">
              <a:solidFill>
                <a:schemeClr val="tx1"/>
              </a:solidFill>
              <a:latin typeface="Arial" panose="020B0604020202020204" pitchFamily="34" charset="0"/>
              <a:cs typeface="Arial" panose="020B0604020202020204" pitchFamily="34" charset="0"/>
              <a:sym typeface="Wingdings" pitchFamily="2" charset="2"/>
            </a:endParaRPr>
          </a:p>
          <a:p>
            <a:pPr algn="just"/>
            <a:endParaRPr lang="en-US" sz="1600" dirty="0">
              <a:solidFill>
                <a:schemeClr val="tx1"/>
              </a:solidFill>
              <a:latin typeface="Arial" panose="020B0604020202020204" pitchFamily="34" charset="0"/>
              <a:cs typeface="Arial" panose="020B0604020202020204" pitchFamily="34" charset="0"/>
              <a:sym typeface="Wingdings" pitchFamily="2" charset="2"/>
            </a:endParaRPr>
          </a:p>
          <a:p>
            <a:pPr algn="just"/>
            <a:endParaRPr lang="en-US" sz="1600" dirty="0">
              <a:solidFill>
                <a:schemeClr val="tx1"/>
              </a:solidFill>
              <a:latin typeface="Arial" panose="020B0604020202020204" pitchFamily="34" charset="0"/>
              <a:cs typeface="Arial" panose="020B0604020202020204" pitchFamily="34" charset="0"/>
            </a:endParaRPr>
          </a:p>
          <a:p>
            <a:pPr algn="just"/>
            <a:endParaRPr lang="en-US" sz="1600" dirty="0">
              <a:solidFill>
                <a:schemeClr val="tx1"/>
              </a:solidFill>
              <a:latin typeface="Arial" panose="020B0604020202020204" pitchFamily="34" charset="0"/>
              <a:cs typeface="Arial" panose="020B0604020202020204" pitchFamily="34" charset="0"/>
            </a:endParaRPr>
          </a:p>
          <a:p>
            <a:pPr algn="just"/>
            <a:endParaRPr lang="en-US" sz="1600" dirty="0">
              <a:solidFill>
                <a:schemeClr val="tx1"/>
              </a:solidFill>
              <a:latin typeface="Arial" panose="020B0604020202020204" pitchFamily="34" charset="0"/>
              <a:cs typeface="Arial" panose="020B0604020202020204" pitchFamily="34" charset="0"/>
            </a:endParaRPr>
          </a:p>
        </p:txBody>
      </p:sp>
      <p:sp>
        <p:nvSpPr>
          <p:cNvPr id="16" name="object 16">
            <a:extLst>
              <a:ext uri="{FF2B5EF4-FFF2-40B4-BE49-F238E27FC236}">
                <a16:creationId xmlns:a16="http://schemas.microsoft.com/office/drawing/2014/main" id="{471E1424-6C4B-2D9A-1352-30AFB987AD41}"/>
              </a:ext>
            </a:extLst>
          </p:cNvPr>
          <p:cNvSpPr txBox="1">
            <a:spLocks noGrp="1"/>
          </p:cNvSpPr>
          <p:nvPr>
            <p:ph type="title"/>
          </p:nvPr>
        </p:nvSpPr>
        <p:spPr>
          <a:xfrm>
            <a:off x="685800" y="408883"/>
            <a:ext cx="10994410" cy="782265"/>
          </a:xfrm>
          <a:prstGeom prst="rect">
            <a:avLst/>
          </a:prstGeom>
        </p:spPr>
        <p:txBody>
          <a:bodyPr vert="horz" wrap="square" lIns="0" tIns="12700" rIns="0" bIns="0" rtlCol="0">
            <a:spAutoFit/>
          </a:bodyPr>
          <a:lstStyle/>
          <a:p>
            <a:pPr marL="12700">
              <a:lnSpc>
                <a:spcPct val="100000"/>
              </a:lnSpc>
              <a:spcBef>
                <a:spcPts val="100"/>
              </a:spcBef>
            </a:pPr>
            <a:r>
              <a:rPr lang="en-US" sz="2500" dirty="0"/>
              <a:t>Learning outcome #1a – Perfectly balanced MZI</a:t>
            </a:r>
            <a:br>
              <a:rPr lang="es-ES" sz="2500" spc="-5" dirty="0">
                <a:latin typeface="+mj-lt"/>
                <a:cs typeface="Lucida Sans"/>
              </a:rPr>
            </a:br>
            <a:endParaRPr sz="2500" b="0" dirty="0">
              <a:latin typeface="+mj-lt"/>
              <a:cs typeface="Lucida Sans"/>
            </a:endParaRPr>
          </a:p>
        </p:txBody>
      </p:sp>
      <p:pic>
        <p:nvPicPr>
          <p:cNvPr id="83" name="Gráfico 82">
            <a:extLst>
              <a:ext uri="{FF2B5EF4-FFF2-40B4-BE49-F238E27FC236}">
                <a16:creationId xmlns:a16="http://schemas.microsoft.com/office/drawing/2014/main" id="{9DCFD462-4416-65F8-5696-B0135B632765}"/>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045006" y="6356057"/>
            <a:ext cx="6409575" cy="363174"/>
          </a:xfrm>
          <a:prstGeom prst="rect">
            <a:avLst/>
          </a:prstGeom>
        </p:spPr>
      </p:pic>
      <p:sp>
        <p:nvSpPr>
          <p:cNvPr id="84" name="Marcador de número de diapositiva 83">
            <a:extLst>
              <a:ext uri="{FF2B5EF4-FFF2-40B4-BE49-F238E27FC236}">
                <a16:creationId xmlns:a16="http://schemas.microsoft.com/office/drawing/2014/main" id="{293F5C1D-AFFF-4EA6-CA59-6503F34EBF5F}"/>
              </a:ext>
            </a:extLst>
          </p:cNvPr>
          <p:cNvSpPr>
            <a:spLocks noGrp="1"/>
          </p:cNvSpPr>
          <p:nvPr>
            <p:ph type="sldNum" sz="quarter" idx="7"/>
          </p:nvPr>
        </p:nvSpPr>
        <p:spPr/>
        <p:txBody>
          <a:bodyPr/>
          <a:lstStyle/>
          <a:p>
            <a:fld id="{B6F15528-21DE-4FAA-801E-634DDDAF4B2B}" type="slidenum">
              <a:rPr lang="es-ES" smtClean="0"/>
              <a:t>3</a:t>
            </a:fld>
            <a:endParaRPr lang="es-ES"/>
          </a:p>
        </p:txBody>
      </p:sp>
      <p:sp>
        <p:nvSpPr>
          <p:cNvPr id="3" name="Marcador de pie de página 2">
            <a:extLst>
              <a:ext uri="{FF2B5EF4-FFF2-40B4-BE49-F238E27FC236}">
                <a16:creationId xmlns:a16="http://schemas.microsoft.com/office/drawing/2014/main" id="{34F13AC1-9668-7266-DF5B-D7CE084AB044}"/>
              </a:ext>
            </a:extLst>
          </p:cNvPr>
          <p:cNvSpPr>
            <a:spLocks noGrp="1"/>
          </p:cNvSpPr>
          <p:nvPr>
            <p:ph type="ftr" sz="quarter" idx="5"/>
          </p:nvPr>
        </p:nvSpPr>
        <p:spPr/>
        <p:txBody>
          <a:bodyPr/>
          <a:lstStyle/>
          <a:p>
            <a:pPr marL="12700">
              <a:spcBef>
                <a:spcPts val="15"/>
              </a:spcBef>
            </a:pPr>
            <a:r>
              <a:rPr lang="es-ES" spc="-5"/>
              <a:t>LAB 3.0. CIRCUITS &amp; COMPACT MODELS</a:t>
            </a:r>
            <a:endParaRPr lang="es-ES" spc="-5" dirty="0"/>
          </a:p>
        </p:txBody>
      </p:sp>
      <p:sp>
        <p:nvSpPr>
          <p:cNvPr id="4" name="Marcador de texto 2">
            <a:extLst>
              <a:ext uri="{FF2B5EF4-FFF2-40B4-BE49-F238E27FC236}">
                <a16:creationId xmlns:a16="http://schemas.microsoft.com/office/drawing/2014/main" id="{AA9E72FF-B948-6B7A-8909-97C6BE95D6FB}"/>
              </a:ext>
            </a:extLst>
          </p:cNvPr>
          <p:cNvSpPr txBox="1">
            <a:spLocks/>
          </p:cNvSpPr>
          <p:nvPr/>
        </p:nvSpPr>
        <p:spPr>
          <a:xfrm>
            <a:off x="6629399" y="1556991"/>
            <a:ext cx="5050811" cy="2895600"/>
          </a:xfrm>
          <a:prstGeom prst="rect">
            <a:avLst/>
          </a:prstGeom>
        </p:spPr>
        <p:txBody>
          <a:bodyPr>
            <a:normAutofit lnSpcReduction="10000"/>
          </a:bodyPr>
          <a:lst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a:lstStyle>
          <a:p>
            <a:pPr marL="0" indent="0">
              <a:buNone/>
            </a:pPr>
            <a:r>
              <a:rPr lang="en-US" sz="2000" b="1" dirty="0"/>
              <a:t>INSTRUCTOR:</a:t>
            </a:r>
          </a:p>
          <a:p>
            <a:pPr marL="342900" indent="-342900" algn="just">
              <a:buFont typeface="Arial" panose="020B0604020202020204" pitchFamily="34" charset="0"/>
              <a:buChar char="•"/>
            </a:pPr>
            <a:r>
              <a:rPr lang="en-US" sz="2000" dirty="0"/>
              <a:t>Present Python and </a:t>
            </a:r>
            <a:r>
              <a:rPr lang="en-US" sz="2000" dirty="0" err="1"/>
              <a:t>GDSFactory</a:t>
            </a:r>
            <a:r>
              <a:rPr lang="en-US" sz="2000" dirty="0"/>
              <a:t> implementation of the Compact Models and Circuit Model</a:t>
            </a:r>
          </a:p>
          <a:p>
            <a:pPr marL="342900" indent="-342900" algn="just">
              <a:buFont typeface="Arial" panose="020B0604020202020204" pitchFamily="34" charset="0"/>
              <a:buChar char="•"/>
            </a:pPr>
            <a:r>
              <a:rPr lang="en-US" sz="2000" dirty="0"/>
              <a:t>Describe how to </a:t>
            </a:r>
            <a:r>
              <a:rPr lang="es-ES" sz="2000" dirty="0" err="1"/>
              <a:t>simulate</a:t>
            </a:r>
            <a:r>
              <a:rPr lang="es-ES" sz="2000" dirty="0"/>
              <a:t> </a:t>
            </a:r>
            <a:r>
              <a:rPr lang="es-ES" sz="2000" dirty="0" err="1"/>
              <a:t>usin</a:t>
            </a:r>
            <a:r>
              <a:rPr lang="es-ES" sz="2000" dirty="0"/>
              <a:t> SAX </a:t>
            </a:r>
            <a:r>
              <a:rPr lang="es-ES" sz="2000" dirty="0" err="1"/>
              <a:t>library</a:t>
            </a:r>
            <a:endParaRPr lang="en-US" sz="2000" dirty="0"/>
          </a:p>
          <a:p>
            <a:pPr marL="342900" indent="-342900" algn="just">
              <a:buFont typeface="Arial" panose="020B0604020202020204" pitchFamily="34" charset="0"/>
              <a:buChar char="•"/>
            </a:pPr>
            <a:r>
              <a:rPr lang="en-US" sz="2000" dirty="0"/>
              <a:t>Describe the outputs.</a:t>
            </a:r>
          </a:p>
          <a:p>
            <a:pPr marL="0" indent="0" algn="just">
              <a:buNone/>
            </a:pPr>
            <a:r>
              <a:rPr lang="en-US" b="1" dirty="0"/>
              <a:t>ALL EXAMPLE #1: </a:t>
            </a:r>
          </a:p>
          <a:p>
            <a:pPr marL="0" indent="0" algn="just">
              <a:buNone/>
            </a:pPr>
            <a:r>
              <a:rPr lang="en-US" dirty="0" err="1"/>
              <a:t>wvl</a:t>
            </a:r>
            <a:r>
              <a:rPr lang="en-US" dirty="0"/>
              <a:t> [1500-1600] step 0.001</a:t>
            </a:r>
          </a:p>
          <a:p>
            <a:pPr marL="0" indent="0" algn="just">
              <a:buNone/>
            </a:pPr>
            <a:r>
              <a:rPr lang="en-US" dirty="0"/>
              <a:t>dL = 0</a:t>
            </a:r>
          </a:p>
          <a:p>
            <a:pPr marL="0" indent="0" algn="just">
              <a:buNone/>
            </a:pPr>
            <a:r>
              <a:rPr lang="en-US" dirty="0"/>
              <a:t>Kin = Kout = 0.5 for all </a:t>
            </a:r>
            <a:r>
              <a:rPr lang="en-US" dirty="0" err="1"/>
              <a:t>wvl</a:t>
            </a:r>
            <a:endParaRPr lang="en-US" dirty="0"/>
          </a:p>
          <a:p>
            <a:pPr algn="just"/>
            <a:endParaRPr lang="en-US" sz="2000" b="1" i="1" dirty="0"/>
          </a:p>
          <a:p>
            <a:pPr algn="just"/>
            <a:endParaRPr lang="en-US" sz="2000" kern="0" dirty="0">
              <a:solidFill>
                <a:sysClr val="windowText" lastClr="000000"/>
              </a:solidFill>
            </a:endParaRPr>
          </a:p>
        </p:txBody>
      </p:sp>
      <p:sp>
        <p:nvSpPr>
          <p:cNvPr id="2" name="CuadroTexto 1">
            <a:extLst>
              <a:ext uri="{FF2B5EF4-FFF2-40B4-BE49-F238E27FC236}">
                <a16:creationId xmlns:a16="http://schemas.microsoft.com/office/drawing/2014/main" id="{D0F8CF3B-B920-DBFC-F825-0C87B51EADA7}"/>
              </a:ext>
            </a:extLst>
          </p:cNvPr>
          <p:cNvSpPr txBox="1"/>
          <p:nvPr/>
        </p:nvSpPr>
        <p:spPr>
          <a:xfrm>
            <a:off x="609441" y="4860334"/>
            <a:ext cx="11199971" cy="830997"/>
          </a:xfrm>
          <a:prstGeom prst="rect">
            <a:avLst/>
          </a:prstGeom>
          <a:solidFill>
            <a:schemeClr val="bg1">
              <a:lumMod val="95000"/>
            </a:schemeClr>
          </a:solidFill>
          <a:ln w="28575">
            <a:solidFill>
              <a:srgbClr val="E0700D"/>
            </a:solidFill>
          </a:ln>
        </p:spPr>
        <p:txBody>
          <a:bodyPr wrap="square" rtlCol="0">
            <a:spAutoFit/>
          </a:bodyPr>
          <a:lstStyle/>
          <a:p>
            <a:pPr algn="just"/>
            <a:r>
              <a:rPr lang="en-US" sz="1200" dirty="0">
                <a:latin typeface="Arial" panose="020B0604020202020204" pitchFamily="34" charset="0"/>
                <a:cs typeface="Arial" panose="020B0604020202020204" pitchFamily="34" charset="0"/>
              </a:rPr>
              <a:t>Document and comment your results</a:t>
            </a:r>
          </a:p>
          <a:p>
            <a:pPr algn="just"/>
            <a:endParaRPr lang="pl-PL" sz="1200" dirty="0">
              <a:latin typeface="Arial" panose="020B0604020202020204" pitchFamily="34" charset="0"/>
              <a:cs typeface="Arial" panose="020B0604020202020204" pitchFamily="34" charset="0"/>
            </a:endParaRPr>
          </a:p>
          <a:p>
            <a:pPr algn="just"/>
            <a:r>
              <a:rPr lang="en-US" sz="1200" dirty="0"/>
              <a:t>The plot shows that the MZI is perfectly balanced. Because of constructive interference, all the light goes to the cross port (H01) for all wavelengths. This means no power is left for the bar port (H00) due to total destructive interference. On the log plot, H00 just looks like a flat line of random numerical noise around -600 </a:t>
            </a:r>
            <a:r>
              <a:rPr lang="en-US" sz="1200" dirty="0" err="1"/>
              <a:t>dB.</a:t>
            </a:r>
            <a:endParaRPr lang="en-US" sz="1200" dirty="0">
              <a:latin typeface="Arial" panose="020B0604020202020204" pitchFamily="34" charset="0"/>
              <a:cs typeface="Arial" panose="020B0604020202020204" pitchFamily="34" charset="0"/>
            </a:endParaRPr>
          </a:p>
        </p:txBody>
      </p:sp>
      <p:sp>
        <p:nvSpPr>
          <p:cNvPr id="6" name="Rectángulo 5">
            <a:extLst>
              <a:ext uri="{FF2B5EF4-FFF2-40B4-BE49-F238E27FC236}">
                <a16:creationId xmlns:a16="http://schemas.microsoft.com/office/drawing/2014/main" id="{82AE4A84-532D-D50D-F368-79FF1C11E97A}"/>
              </a:ext>
            </a:extLst>
          </p:cNvPr>
          <p:cNvSpPr/>
          <p:nvPr/>
        </p:nvSpPr>
        <p:spPr>
          <a:xfrm>
            <a:off x="609441" y="1418373"/>
            <a:ext cx="5332571" cy="3306028"/>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CuadroTexto 6">
            <a:extLst>
              <a:ext uri="{FF2B5EF4-FFF2-40B4-BE49-F238E27FC236}">
                <a16:creationId xmlns:a16="http://schemas.microsoft.com/office/drawing/2014/main" id="{024B9AF7-5B09-CE7C-68D9-8620B8F4F607}"/>
              </a:ext>
            </a:extLst>
          </p:cNvPr>
          <p:cNvSpPr txBox="1"/>
          <p:nvPr/>
        </p:nvSpPr>
        <p:spPr>
          <a:xfrm>
            <a:off x="1690195" y="2494306"/>
            <a:ext cx="3171061" cy="1154162"/>
          </a:xfrm>
          <a:prstGeom prst="rect">
            <a:avLst/>
          </a:prstGeom>
          <a:noFill/>
        </p:spPr>
        <p:txBody>
          <a:bodyPr wrap="none" rtlCol="0">
            <a:spAutoFit/>
          </a:bodyPr>
          <a:lstStyle/>
          <a:p>
            <a:pPr algn="ctr"/>
            <a:r>
              <a:rPr lang="es-ES" dirty="0"/>
              <a:t>MZI transfer </a:t>
            </a:r>
            <a:r>
              <a:rPr lang="es-ES" dirty="0" err="1"/>
              <a:t>functions</a:t>
            </a:r>
            <a:endParaRPr lang="en-US" dirty="0"/>
          </a:p>
          <a:p>
            <a:pPr algn="ctr"/>
            <a:endParaRPr lang="en-US" dirty="0"/>
          </a:p>
          <a:p>
            <a:pPr algn="ctr"/>
            <a:r>
              <a:rPr lang="en-US" dirty="0"/>
              <a:t>Paste plot here</a:t>
            </a:r>
          </a:p>
        </p:txBody>
      </p:sp>
      <p:pic>
        <p:nvPicPr>
          <p:cNvPr id="9" name="Obraz 8">
            <a:extLst>
              <a:ext uri="{FF2B5EF4-FFF2-40B4-BE49-F238E27FC236}">
                <a16:creationId xmlns:a16="http://schemas.microsoft.com/office/drawing/2014/main" id="{CC63B047-2DB5-BE81-73D3-0B9835002256}"/>
              </a:ext>
            </a:extLst>
          </p:cNvPr>
          <p:cNvPicPr>
            <a:picLocks noChangeAspect="1"/>
          </p:cNvPicPr>
          <p:nvPr/>
        </p:nvPicPr>
        <p:blipFill>
          <a:blip r:embed="rId4"/>
          <a:stretch>
            <a:fillRect/>
          </a:stretch>
        </p:blipFill>
        <p:spPr>
          <a:xfrm>
            <a:off x="685800" y="1646877"/>
            <a:ext cx="5084710" cy="2849020"/>
          </a:xfrm>
          <a:prstGeom prst="rect">
            <a:avLst/>
          </a:prstGeom>
        </p:spPr>
      </p:pic>
    </p:spTree>
    <p:extLst>
      <p:ext uri="{BB962C8B-B14F-4D97-AF65-F5344CB8AC3E}">
        <p14:creationId xmlns:p14="http://schemas.microsoft.com/office/powerpoint/2010/main" val="73050131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D5EA17-A19F-F6ED-E241-A2268CBA45D6}"/>
            </a:ext>
          </a:extLst>
        </p:cNvPr>
        <p:cNvGrpSpPr/>
        <p:nvPr/>
      </p:nvGrpSpPr>
      <p:grpSpPr>
        <a:xfrm>
          <a:off x="0" y="0"/>
          <a:ext cx="0" cy="0"/>
          <a:chOff x="0" y="0"/>
          <a:chExt cx="0" cy="0"/>
        </a:xfrm>
      </p:grpSpPr>
      <p:sp>
        <p:nvSpPr>
          <p:cNvPr id="5" name="Rectángulo 4">
            <a:extLst>
              <a:ext uri="{FF2B5EF4-FFF2-40B4-BE49-F238E27FC236}">
                <a16:creationId xmlns:a16="http://schemas.microsoft.com/office/drawing/2014/main" id="{DA69D816-535A-F5EE-E106-BA148A1B2DF6}"/>
              </a:ext>
            </a:extLst>
          </p:cNvPr>
          <p:cNvSpPr/>
          <p:nvPr/>
        </p:nvSpPr>
        <p:spPr>
          <a:xfrm>
            <a:off x="6476400" y="1418373"/>
            <a:ext cx="5332571" cy="3306028"/>
          </a:xfrm>
          <a:prstGeom prst="rect">
            <a:avLst/>
          </a:prstGeom>
          <a:solidFill>
            <a:schemeClr val="bg1">
              <a:lumMod val="95000"/>
            </a:schemeClr>
          </a:solid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t" anchorCtr="0"/>
          <a:lstStyle/>
          <a:p>
            <a:pPr algn="just"/>
            <a:endParaRPr lang="en-US" sz="1600" dirty="0">
              <a:solidFill>
                <a:schemeClr val="tx1"/>
              </a:solidFill>
              <a:latin typeface="Arial" panose="020B0604020202020204" pitchFamily="34" charset="0"/>
              <a:cs typeface="Arial" panose="020B0604020202020204" pitchFamily="34" charset="0"/>
              <a:sym typeface="Wingdings" pitchFamily="2" charset="2"/>
            </a:endParaRPr>
          </a:p>
          <a:p>
            <a:pPr algn="just"/>
            <a:endParaRPr lang="en-US" sz="1600" dirty="0">
              <a:solidFill>
                <a:schemeClr val="tx1"/>
              </a:solidFill>
              <a:latin typeface="Arial" panose="020B0604020202020204" pitchFamily="34" charset="0"/>
              <a:cs typeface="Arial" panose="020B0604020202020204" pitchFamily="34" charset="0"/>
              <a:sym typeface="Wingdings" pitchFamily="2" charset="2"/>
            </a:endParaRPr>
          </a:p>
          <a:p>
            <a:pPr algn="just"/>
            <a:endParaRPr lang="en-US" sz="1600" dirty="0">
              <a:solidFill>
                <a:schemeClr val="tx1"/>
              </a:solidFill>
              <a:latin typeface="Arial" panose="020B0604020202020204" pitchFamily="34" charset="0"/>
              <a:cs typeface="Arial" panose="020B0604020202020204" pitchFamily="34" charset="0"/>
              <a:sym typeface="Wingdings" pitchFamily="2" charset="2"/>
            </a:endParaRPr>
          </a:p>
          <a:p>
            <a:pPr algn="just"/>
            <a:endParaRPr lang="en-US" sz="1600" dirty="0">
              <a:solidFill>
                <a:schemeClr val="tx1"/>
              </a:solidFill>
              <a:latin typeface="Arial" panose="020B0604020202020204" pitchFamily="34" charset="0"/>
              <a:cs typeface="Arial" panose="020B0604020202020204" pitchFamily="34" charset="0"/>
            </a:endParaRPr>
          </a:p>
          <a:p>
            <a:pPr algn="just"/>
            <a:endParaRPr lang="en-US" sz="1600" dirty="0">
              <a:solidFill>
                <a:schemeClr val="tx1"/>
              </a:solidFill>
              <a:latin typeface="Arial" panose="020B0604020202020204" pitchFamily="34" charset="0"/>
              <a:cs typeface="Arial" panose="020B0604020202020204" pitchFamily="34" charset="0"/>
            </a:endParaRPr>
          </a:p>
          <a:p>
            <a:pPr algn="just"/>
            <a:endParaRPr lang="en-US" sz="1600" dirty="0">
              <a:solidFill>
                <a:schemeClr val="tx1"/>
              </a:solidFill>
              <a:latin typeface="Arial" panose="020B0604020202020204" pitchFamily="34" charset="0"/>
              <a:cs typeface="Arial" panose="020B0604020202020204" pitchFamily="34" charset="0"/>
            </a:endParaRPr>
          </a:p>
        </p:txBody>
      </p:sp>
      <p:sp>
        <p:nvSpPr>
          <p:cNvPr id="16" name="object 16">
            <a:extLst>
              <a:ext uri="{FF2B5EF4-FFF2-40B4-BE49-F238E27FC236}">
                <a16:creationId xmlns:a16="http://schemas.microsoft.com/office/drawing/2014/main" id="{D79563BA-3258-C655-D121-E2E23B61FDB5}"/>
              </a:ext>
            </a:extLst>
          </p:cNvPr>
          <p:cNvSpPr txBox="1">
            <a:spLocks noGrp="1"/>
          </p:cNvSpPr>
          <p:nvPr>
            <p:ph type="title"/>
          </p:nvPr>
        </p:nvSpPr>
        <p:spPr>
          <a:xfrm>
            <a:off x="685800" y="408883"/>
            <a:ext cx="10994410" cy="782265"/>
          </a:xfrm>
          <a:prstGeom prst="rect">
            <a:avLst/>
          </a:prstGeom>
        </p:spPr>
        <p:txBody>
          <a:bodyPr vert="horz" wrap="square" lIns="0" tIns="12700" rIns="0" bIns="0" rtlCol="0">
            <a:spAutoFit/>
          </a:bodyPr>
          <a:lstStyle/>
          <a:p>
            <a:pPr marL="12700">
              <a:lnSpc>
                <a:spcPct val="100000"/>
              </a:lnSpc>
              <a:spcBef>
                <a:spcPts val="100"/>
              </a:spcBef>
            </a:pPr>
            <a:r>
              <a:rPr lang="en-US" sz="2500" dirty="0"/>
              <a:t>Learning outcome #1b – Unbalanced MZI</a:t>
            </a:r>
            <a:br>
              <a:rPr lang="es-ES" sz="2500" spc="-5" dirty="0">
                <a:latin typeface="+mj-lt"/>
                <a:cs typeface="Lucida Sans"/>
              </a:rPr>
            </a:br>
            <a:endParaRPr sz="2500" b="0" dirty="0">
              <a:latin typeface="+mj-lt"/>
              <a:cs typeface="Lucida Sans"/>
            </a:endParaRPr>
          </a:p>
        </p:txBody>
      </p:sp>
      <p:pic>
        <p:nvPicPr>
          <p:cNvPr id="83" name="Gráfico 82">
            <a:extLst>
              <a:ext uri="{FF2B5EF4-FFF2-40B4-BE49-F238E27FC236}">
                <a16:creationId xmlns:a16="http://schemas.microsoft.com/office/drawing/2014/main" id="{08B251FE-4B29-D52F-1DB1-9E5BBD8CFF56}"/>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045006" y="6356057"/>
            <a:ext cx="6409575" cy="363174"/>
          </a:xfrm>
          <a:prstGeom prst="rect">
            <a:avLst/>
          </a:prstGeom>
        </p:spPr>
      </p:pic>
      <p:sp>
        <p:nvSpPr>
          <p:cNvPr id="84" name="Marcador de número de diapositiva 83">
            <a:extLst>
              <a:ext uri="{FF2B5EF4-FFF2-40B4-BE49-F238E27FC236}">
                <a16:creationId xmlns:a16="http://schemas.microsoft.com/office/drawing/2014/main" id="{63FA43D9-CFE1-F872-DD44-E04BB1B18DFD}"/>
              </a:ext>
            </a:extLst>
          </p:cNvPr>
          <p:cNvSpPr>
            <a:spLocks noGrp="1"/>
          </p:cNvSpPr>
          <p:nvPr>
            <p:ph type="sldNum" sz="quarter" idx="7"/>
          </p:nvPr>
        </p:nvSpPr>
        <p:spPr/>
        <p:txBody>
          <a:bodyPr/>
          <a:lstStyle/>
          <a:p>
            <a:fld id="{B6F15528-21DE-4FAA-801E-634DDDAF4B2B}" type="slidenum">
              <a:rPr lang="es-ES" smtClean="0"/>
              <a:t>4</a:t>
            </a:fld>
            <a:endParaRPr lang="es-ES"/>
          </a:p>
        </p:txBody>
      </p:sp>
      <p:sp>
        <p:nvSpPr>
          <p:cNvPr id="3" name="Marcador de pie de página 2">
            <a:extLst>
              <a:ext uri="{FF2B5EF4-FFF2-40B4-BE49-F238E27FC236}">
                <a16:creationId xmlns:a16="http://schemas.microsoft.com/office/drawing/2014/main" id="{06710B9A-16F8-7A75-9BC8-FE3189874FB8}"/>
              </a:ext>
            </a:extLst>
          </p:cNvPr>
          <p:cNvSpPr>
            <a:spLocks noGrp="1"/>
          </p:cNvSpPr>
          <p:nvPr>
            <p:ph type="ftr" sz="quarter" idx="5"/>
          </p:nvPr>
        </p:nvSpPr>
        <p:spPr/>
        <p:txBody>
          <a:bodyPr/>
          <a:lstStyle/>
          <a:p>
            <a:pPr marL="12700">
              <a:spcBef>
                <a:spcPts val="15"/>
              </a:spcBef>
            </a:pPr>
            <a:r>
              <a:rPr lang="en-US" spc="-5"/>
              <a:t>LAB 3.0. CIRCUITS &amp; COMPACT MODELS</a:t>
            </a:r>
            <a:endParaRPr lang="es-ES" spc="-5" dirty="0"/>
          </a:p>
        </p:txBody>
      </p:sp>
      <p:sp>
        <p:nvSpPr>
          <p:cNvPr id="4" name="Marcador de texto 2">
            <a:extLst>
              <a:ext uri="{FF2B5EF4-FFF2-40B4-BE49-F238E27FC236}">
                <a16:creationId xmlns:a16="http://schemas.microsoft.com/office/drawing/2014/main" id="{0E86A2CB-D14B-54A7-9376-DAE1E4FF0284}"/>
              </a:ext>
            </a:extLst>
          </p:cNvPr>
          <p:cNvSpPr txBox="1">
            <a:spLocks/>
          </p:cNvSpPr>
          <p:nvPr/>
        </p:nvSpPr>
        <p:spPr>
          <a:xfrm>
            <a:off x="6629399" y="1556991"/>
            <a:ext cx="5050811" cy="2895600"/>
          </a:xfrm>
          <a:prstGeom prst="rect">
            <a:avLst/>
          </a:prstGeom>
        </p:spPr>
        <p:txBody>
          <a:bodyPr>
            <a:normAutofit/>
          </a:bodyPr>
          <a:lst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a:lstStyle>
          <a:p>
            <a:pPr marL="0" indent="0">
              <a:buNone/>
            </a:pPr>
            <a:r>
              <a:rPr lang="es-ES" b="1" dirty="0"/>
              <a:t>HINTS</a:t>
            </a:r>
            <a:r>
              <a:rPr lang="en-US" b="1" dirty="0"/>
              <a:t>: </a:t>
            </a:r>
          </a:p>
          <a:p>
            <a:pPr marL="0" indent="0" algn="just">
              <a:buNone/>
            </a:pPr>
            <a:r>
              <a:rPr lang="en-US" dirty="0" err="1"/>
              <a:t>wvl</a:t>
            </a:r>
            <a:r>
              <a:rPr lang="en-US" dirty="0"/>
              <a:t> [1500-1600] step 0.001</a:t>
            </a:r>
          </a:p>
          <a:p>
            <a:pPr algn="just"/>
            <a:r>
              <a:rPr lang="en-US" dirty="0"/>
              <a:t>dL = </a:t>
            </a:r>
            <a:r>
              <a:rPr lang="en-US" dirty="0">
                <a:latin typeface="Arial" panose="020B0604020202020204" pitchFamily="34" charset="0"/>
                <a:cs typeface="Arial" panose="020B0604020202020204" pitchFamily="34" charset="0"/>
                <a:sym typeface="Wingdings" pitchFamily="2" charset="2"/>
              </a:rPr>
              <a:t>100 µm</a:t>
            </a:r>
            <a:endParaRPr lang="en-US" dirty="0"/>
          </a:p>
          <a:p>
            <a:pPr marL="0" indent="0" algn="just">
              <a:buNone/>
            </a:pPr>
            <a:r>
              <a:rPr lang="en-US" dirty="0"/>
              <a:t>Kin = Kout = 0.5 for all </a:t>
            </a:r>
            <a:r>
              <a:rPr lang="en-US" dirty="0" err="1"/>
              <a:t>wvl</a:t>
            </a:r>
            <a:endParaRPr lang="en-US" dirty="0"/>
          </a:p>
          <a:p>
            <a:pPr algn="just"/>
            <a:endParaRPr lang="en-US" sz="2000" b="1" i="1" dirty="0"/>
          </a:p>
          <a:p>
            <a:pPr algn="just"/>
            <a:endParaRPr lang="en-US" sz="2000" kern="0" dirty="0">
              <a:solidFill>
                <a:sysClr val="windowText" lastClr="000000"/>
              </a:solidFill>
            </a:endParaRPr>
          </a:p>
        </p:txBody>
      </p:sp>
      <p:sp>
        <p:nvSpPr>
          <p:cNvPr id="2" name="CuadroTexto 1">
            <a:extLst>
              <a:ext uri="{FF2B5EF4-FFF2-40B4-BE49-F238E27FC236}">
                <a16:creationId xmlns:a16="http://schemas.microsoft.com/office/drawing/2014/main" id="{50C41089-061E-9B39-3904-6F31AFE073B8}"/>
              </a:ext>
            </a:extLst>
          </p:cNvPr>
          <p:cNvSpPr txBox="1"/>
          <p:nvPr/>
        </p:nvSpPr>
        <p:spPr>
          <a:xfrm>
            <a:off x="609441" y="4860334"/>
            <a:ext cx="11199971" cy="1384995"/>
          </a:xfrm>
          <a:prstGeom prst="rect">
            <a:avLst/>
          </a:prstGeom>
          <a:solidFill>
            <a:schemeClr val="bg1">
              <a:lumMod val="95000"/>
            </a:schemeClr>
          </a:solidFill>
          <a:ln w="28575">
            <a:solidFill>
              <a:srgbClr val="E0700D"/>
            </a:solidFill>
          </a:ln>
        </p:spPr>
        <p:txBody>
          <a:bodyPr wrap="square" rtlCol="0">
            <a:spAutoFit/>
          </a:bodyPr>
          <a:lstStyle/>
          <a:p>
            <a:pPr algn="just"/>
            <a:r>
              <a:rPr lang="en-US" sz="1200" dirty="0">
                <a:latin typeface="Arial" panose="020B0604020202020204" pitchFamily="34" charset="0"/>
                <a:cs typeface="Arial" panose="020B0604020202020204" pitchFamily="34" charset="0"/>
              </a:rPr>
              <a:t>Comment results: describe the transfer function, which is the FSR? How is it related to the length difference among arms? </a:t>
            </a:r>
          </a:p>
          <a:p>
            <a:pPr algn="just"/>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a:p>
            <a:pPr algn="just"/>
            <a:r>
              <a:rPr lang="en-US" sz="1200" dirty="0">
                <a:latin typeface="Arial" panose="020B0604020202020204" pitchFamily="34" charset="0"/>
                <a:cs typeface="Arial" panose="020B0604020202020204" pitchFamily="34" charset="0"/>
              </a:rPr>
              <a:t>Show a numeric calculation of the FSR and length difference matching the results in the graph,</a:t>
            </a:r>
          </a:p>
          <a:p>
            <a:pPr algn="just"/>
            <a:endParaRPr lang="en-US" sz="1200" dirty="0">
              <a:latin typeface="Arial" panose="020B0604020202020204" pitchFamily="34" charset="0"/>
              <a:cs typeface="Arial" panose="020B0604020202020204" pitchFamily="34" charset="0"/>
            </a:endParaRPr>
          </a:p>
          <a:p>
            <a:pPr algn="just"/>
            <a:r>
              <a:rPr lang="pl-PL" sz="2400" b="1" i="1" dirty="0">
                <a:solidFill>
                  <a:srgbClr val="FF0000"/>
                </a:solidFill>
                <a:latin typeface="Arial" panose="020B0604020202020204" pitchFamily="34" charset="0"/>
                <a:cs typeface="Arial" panose="020B0604020202020204" pitchFamily="34" charset="0"/>
              </a:rPr>
              <a:t>NEXT SLIDE</a:t>
            </a:r>
            <a:endParaRPr lang="en-US" sz="2400" b="1" i="1" dirty="0">
              <a:solidFill>
                <a:srgbClr val="FF0000"/>
              </a:solidFill>
              <a:latin typeface="Arial" panose="020B0604020202020204" pitchFamily="34" charset="0"/>
              <a:cs typeface="Arial" panose="020B0604020202020204" pitchFamily="34" charset="0"/>
            </a:endParaRPr>
          </a:p>
        </p:txBody>
      </p:sp>
      <p:sp>
        <p:nvSpPr>
          <p:cNvPr id="6" name="Rectángulo 5">
            <a:extLst>
              <a:ext uri="{FF2B5EF4-FFF2-40B4-BE49-F238E27FC236}">
                <a16:creationId xmlns:a16="http://schemas.microsoft.com/office/drawing/2014/main" id="{F95B976F-6522-EA3D-1323-5C97E9F88EDF}"/>
              </a:ext>
            </a:extLst>
          </p:cNvPr>
          <p:cNvSpPr/>
          <p:nvPr/>
        </p:nvSpPr>
        <p:spPr>
          <a:xfrm>
            <a:off x="609441" y="1418373"/>
            <a:ext cx="5332571" cy="3306028"/>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CuadroTexto 6">
            <a:extLst>
              <a:ext uri="{FF2B5EF4-FFF2-40B4-BE49-F238E27FC236}">
                <a16:creationId xmlns:a16="http://schemas.microsoft.com/office/drawing/2014/main" id="{8934523B-51D9-2926-EAC0-7EAD4D1D5B75}"/>
              </a:ext>
            </a:extLst>
          </p:cNvPr>
          <p:cNvSpPr txBox="1"/>
          <p:nvPr/>
        </p:nvSpPr>
        <p:spPr>
          <a:xfrm>
            <a:off x="1690195" y="2494306"/>
            <a:ext cx="3171061" cy="1154162"/>
          </a:xfrm>
          <a:prstGeom prst="rect">
            <a:avLst/>
          </a:prstGeom>
          <a:noFill/>
        </p:spPr>
        <p:txBody>
          <a:bodyPr wrap="none" rtlCol="0">
            <a:spAutoFit/>
          </a:bodyPr>
          <a:lstStyle/>
          <a:p>
            <a:pPr algn="ctr"/>
            <a:r>
              <a:rPr lang="es-ES" dirty="0"/>
              <a:t>MZI transfer </a:t>
            </a:r>
            <a:r>
              <a:rPr lang="es-ES" dirty="0" err="1"/>
              <a:t>functions</a:t>
            </a:r>
            <a:endParaRPr lang="en-US" dirty="0"/>
          </a:p>
          <a:p>
            <a:pPr algn="ctr"/>
            <a:endParaRPr lang="en-US" dirty="0"/>
          </a:p>
          <a:p>
            <a:pPr algn="ctr"/>
            <a:r>
              <a:rPr lang="en-US" dirty="0"/>
              <a:t>Paste plot here</a:t>
            </a:r>
          </a:p>
        </p:txBody>
      </p:sp>
      <p:pic>
        <p:nvPicPr>
          <p:cNvPr id="9" name="Obraz 8">
            <a:extLst>
              <a:ext uri="{FF2B5EF4-FFF2-40B4-BE49-F238E27FC236}">
                <a16:creationId xmlns:a16="http://schemas.microsoft.com/office/drawing/2014/main" id="{72E0ADA3-324F-E15F-B955-6D64DF35B321}"/>
              </a:ext>
            </a:extLst>
          </p:cNvPr>
          <p:cNvPicPr>
            <a:picLocks noChangeAspect="1"/>
          </p:cNvPicPr>
          <p:nvPr/>
        </p:nvPicPr>
        <p:blipFill>
          <a:blip r:embed="rId4"/>
          <a:stretch>
            <a:fillRect/>
          </a:stretch>
        </p:blipFill>
        <p:spPr>
          <a:xfrm>
            <a:off x="693576" y="1751962"/>
            <a:ext cx="5097624" cy="2791095"/>
          </a:xfrm>
          <a:prstGeom prst="rect">
            <a:avLst/>
          </a:prstGeom>
        </p:spPr>
      </p:pic>
    </p:spTree>
    <p:extLst>
      <p:ext uri="{BB962C8B-B14F-4D97-AF65-F5344CB8AC3E}">
        <p14:creationId xmlns:p14="http://schemas.microsoft.com/office/powerpoint/2010/main" val="239518033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1F6ACD43-3B92-EB50-9672-2F1A2B7B5D45}"/>
              </a:ext>
            </a:extLst>
          </p:cNvPr>
          <p:cNvSpPr>
            <a:spLocks noGrp="1"/>
          </p:cNvSpPr>
          <p:nvPr>
            <p:ph type="title"/>
          </p:nvPr>
        </p:nvSpPr>
        <p:spPr>
          <a:xfrm>
            <a:off x="590550" y="206752"/>
            <a:ext cx="10991850" cy="677108"/>
          </a:xfrm>
        </p:spPr>
        <p:txBody>
          <a:bodyPr/>
          <a:lstStyle/>
          <a:p>
            <a:r>
              <a:rPr lang="pl-PL" sz="4400" dirty="0"/>
              <a:t>LO1.b</a:t>
            </a:r>
          </a:p>
        </p:txBody>
      </p:sp>
      <p:sp>
        <p:nvSpPr>
          <p:cNvPr id="3" name="Symbol zastępczy tekstu 2">
            <a:extLst>
              <a:ext uri="{FF2B5EF4-FFF2-40B4-BE49-F238E27FC236}">
                <a16:creationId xmlns:a16="http://schemas.microsoft.com/office/drawing/2014/main" id="{3BE21966-1935-48B9-7982-560A78B9E2C1}"/>
              </a:ext>
            </a:extLst>
          </p:cNvPr>
          <p:cNvSpPr>
            <a:spLocks noGrp="1"/>
          </p:cNvSpPr>
          <p:nvPr>
            <p:ph type="body" idx="1"/>
          </p:nvPr>
        </p:nvSpPr>
        <p:spPr>
          <a:xfrm>
            <a:off x="590550" y="1066800"/>
            <a:ext cx="10972800" cy="4431983"/>
          </a:xfrm>
        </p:spPr>
        <p:txBody>
          <a:bodyPr/>
          <a:lstStyle/>
          <a:p>
            <a:r>
              <a:rPr lang="en-US" dirty="0"/>
              <a:t>Comment results: describe the transfer function, which is the FSR? How is it related to the length difference among arms?</a:t>
            </a:r>
          </a:p>
          <a:p>
            <a:endParaRPr lang="en-US" dirty="0"/>
          </a:p>
          <a:p>
            <a:r>
              <a:rPr lang="en-US" dirty="0"/>
              <a:t>- Transfer Function: The graph show a sinusoid shape. It goes up and down because light is making interference in the waveguides.</a:t>
            </a:r>
          </a:p>
          <a:p>
            <a:r>
              <a:rPr lang="en-US" dirty="0"/>
              <a:t>- FSR: FSR is distance between two maximum peaks on the plot. Here FSR is about 5.</a:t>
            </a:r>
            <a:r>
              <a:rPr lang="pl-PL" dirty="0"/>
              <a:t>5</a:t>
            </a:r>
            <a:r>
              <a:rPr lang="en-US" dirty="0"/>
              <a:t> nm.</a:t>
            </a:r>
          </a:p>
          <a:p>
            <a:r>
              <a:rPr lang="en-US" dirty="0"/>
              <a:t>- Relation to length: When we make length difference (dL) bigger, then FSR get smaller and we have more peaks.</a:t>
            </a:r>
          </a:p>
          <a:p>
            <a:endParaRPr lang="en-US" dirty="0"/>
          </a:p>
          <a:p>
            <a:r>
              <a:rPr lang="en-US" dirty="0"/>
              <a:t>Show a numeric calculation of the FSR and length difference matching the results in the graph:</a:t>
            </a:r>
          </a:p>
          <a:p>
            <a:endParaRPr lang="en-US" dirty="0"/>
          </a:p>
          <a:p>
            <a:r>
              <a:rPr lang="en-US" dirty="0"/>
              <a:t>- Formula is: FSR = lambda^2 / (n</a:t>
            </a:r>
            <a:r>
              <a:rPr lang="pl-PL" dirty="0"/>
              <a:t>_</a:t>
            </a:r>
            <a:r>
              <a:rPr lang="en-US" dirty="0"/>
              <a:t>g * dL)</a:t>
            </a:r>
          </a:p>
          <a:p>
            <a:r>
              <a:rPr lang="en-US" dirty="0"/>
              <a:t>- We use lambda = 1550 nm, n</a:t>
            </a:r>
            <a:r>
              <a:rPr lang="pl-PL" dirty="0"/>
              <a:t>_</a:t>
            </a:r>
            <a:r>
              <a:rPr lang="en-US" dirty="0"/>
              <a:t>g = 4.2 (for silicon) and dL = 100 um.</a:t>
            </a:r>
          </a:p>
          <a:p>
            <a:r>
              <a:rPr lang="en-US" dirty="0"/>
              <a:t>- Math: </a:t>
            </a:r>
          </a:p>
          <a:p>
            <a:r>
              <a:rPr lang="en-US" dirty="0"/>
              <a:t>  FSR = (1550 * 10^-9)^2 / (4.2 * 100 * 10^-6) </a:t>
            </a:r>
          </a:p>
          <a:p>
            <a:r>
              <a:rPr lang="pl-PL" dirty="0"/>
              <a:t>  </a:t>
            </a:r>
            <a:r>
              <a:rPr lang="en-US" dirty="0"/>
              <a:t>FSR = 5.72 nm</a:t>
            </a:r>
          </a:p>
          <a:p>
            <a:r>
              <a:rPr lang="en-US" dirty="0"/>
              <a:t>- Conclusion: The math result is 5.72 nm. It match the plot perfectly so simulation works </a:t>
            </a:r>
            <a:r>
              <a:rPr lang="pl-PL" dirty="0"/>
              <a:t>okay</a:t>
            </a:r>
            <a:r>
              <a:rPr lang="en-US" dirty="0"/>
              <a:t>.</a:t>
            </a:r>
            <a:endParaRPr lang="pl-PL" dirty="0"/>
          </a:p>
        </p:txBody>
      </p:sp>
      <p:sp>
        <p:nvSpPr>
          <p:cNvPr id="4" name="Symbol zastępczy stopki 3">
            <a:extLst>
              <a:ext uri="{FF2B5EF4-FFF2-40B4-BE49-F238E27FC236}">
                <a16:creationId xmlns:a16="http://schemas.microsoft.com/office/drawing/2014/main" id="{3C58200D-50B0-9238-F785-EE180D753337}"/>
              </a:ext>
            </a:extLst>
          </p:cNvPr>
          <p:cNvSpPr>
            <a:spLocks noGrp="1"/>
          </p:cNvSpPr>
          <p:nvPr>
            <p:ph type="ftr" sz="quarter" idx="5"/>
          </p:nvPr>
        </p:nvSpPr>
        <p:spPr/>
        <p:txBody>
          <a:bodyPr/>
          <a:lstStyle/>
          <a:p>
            <a:pPr marL="12700">
              <a:spcBef>
                <a:spcPts val="15"/>
              </a:spcBef>
            </a:pPr>
            <a:r>
              <a:rPr lang="es-ES" spc="-5"/>
              <a:t>LAB 3.0. CIRCUITS &amp; COMPACT MODELS</a:t>
            </a:r>
            <a:endParaRPr lang="es-ES" spc="-5" dirty="0"/>
          </a:p>
        </p:txBody>
      </p:sp>
      <p:sp>
        <p:nvSpPr>
          <p:cNvPr id="5" name="Symbol zastępczy numeru slajdu 4">
            <a:extLst>
              <a:ext uri="{FF2B5EF4-FFF2-40B4-BE49-F238E27FC236}">
                <a16:creationId xmlns:a16="http://schemas.microsoft.com/office/drawing/2014/main" id="{4D0255AF-9EAD-5655-F6CB-26647336F9D3}"/>
              </a:ext>
            </a:extLst>
          </p:cNvPr>
          <p:cNvSpPr>
            <a:spLocks noGrp="1"/>
          </p:cNvSpPr>
          <p:nvPr>
            <p:ph type="sldNum" sz="quarter" idx="7"/>
          </p:nvPr>
        </p:nvSpPr>
        <p:spPr/>
        <p:txBody>
          <a:bodyPr/>
          <a:lstStyle/>
          <a:p>
            <a:fld id="{B6F15528-21DE-4FAA-801E-634DDDAF4B2B}" type="slidenum">
              <a:rPr lang="pl-PL" smtClean="0"/>
              <a:t>5</a:t>
            </a:fld>
            <a:endParaRPr lang="pl-PL"/>
          </a:p>
        </p:txBody>
      </p:sp>
    </p:spTree>
    <p:extLst>
      <p:ext uri="{BB962C8B-B14F-4D97-AF65-F5344CB8AC3E}">
        <p14:creationId xmlns:p14="http://schemas.microsoft.com/office/powerpoint/2010/main" val="179372917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Marcador de pie de página 4">
            <a:extLst>
              <a:ext uri="{FF2B5EF4-FFF2-40B4-BE49-F238E27FC236}">
                <a16:creationId xmlns:a16="http://schemas.microsoft.com/office/drawing/2014/main" id="{F929251A-3DC4-36B2-3FB3-341378364BED}"/>
              </a:ext>
            </a:extLst>
          </p:cNvPr>
          <p:cNvSpPr>
            <a:spLocks noGrp="1"/>
          </p:cNvSpPr>
          <p:nvPr>
            <p:ph type="ftr" sz="quarter" idx="5"/>
          </p:nvPr>
        </p:nvSpPr>
        <p:spPr/>
        <p:txBody>
          <a:bodyPr/>
          <a:lstStyle/>
          <a:p>
            <a:r>
              <a:rPr lang="en-US"/>
              <a:t>LAB 3.0. CIRCUITS &amp; COMPACT MODELS</a:t>
            </a:r>
          </a:p>
        </p:txBody>
      </p:sp>
      <p:sp>
        <p:nvSpPr>
          <p:cNvPr id="6" name="Marcador de número de diapositiva 5">
            <a:extLst>
              <a:ext uri="{FF2B5EF4-FFF2-40B4-BE49-F238E27FC236}">
                <a16:creationId xmlns:a16="http://schemas.microsoft.com/office/drawing/2014/main" id="{8E91A34C-DF76-97CF-3EFD-546BC64A2184}"/>
              </a:ext>
            </a:extLst>
          </p:cNvPr>
          <p:cNvSpPr>
            <a:spLocks noGrp="1"/>
          </p:cNvSpPr>
          <p:nvPr>
            <p:ph type="sldNum" sz="quarter" idx="7"/>
          </p:nvPr>
        </p:nvSpPr>
        <p:spPr/>
        <p:txBody>
          <a:bodyPr/>
          <a:lstStyle/>
          <a:p>
            <a:fld id="{C2F52289-4012-4053-9770-FE82CEB9514F}" type="slidenum">
              <a:rPr lang="en-US" smtClean="0"/>
              <a:pPr/>
              <a:t>6</a:t>
            </a:fld>
            <a:endParaRPr lang="en-US" dirty="0"/>
          </a:p>
        </p:txBody>
      </p:sp>
      <p:sp>
        <p:nvSpPr>
          <p:cNvPr id="8" name="CuadroTexto 7">
            <a:extLst>
              <a:ext uri="{FF2B5EF4-FFF2-40B4-BE49-F238E27FC236}">
                <a16:creationId xmlns:a16="http://schemas.microsoft.com/office/drawing/2014/main" id="{D9601617-351E-AE1A-1F4D-693F2EA59361}"/>
              </a:ext>
            </a:extLst>
          </p:cNvPr>
          <p:cNvSpPr txBox="1"/>
          <p:nvPr/>
        </p:nvSpPr>
        <p:spPr>
          <a:xfrm>
            <a:off x="611029" y="4860335"/>
            <a:ext cx="11199530" cy="1200329"/>
          </a:xfrm>
          <a:prstGeom prst="rect">
            <a:avLst/>
          </a:prstGeom>
          <a:solidFill>
            <a:schemeClr val="bg1">
              <a:lumMod val="95000"/>
            </a:schemeClr>
          </a:solidFill>
          <a:ln w="28575">
            <a:solidFill>
              <a:srgbClr val="E0700D"/>
            </a:solidFill>
          </a:ln>
        </p:spPr>
        <p:txBody>
          <a:bodyPr wrap="square" rtlCol="0">
            <a:spAutoFit/>
          </a:bodyPr>
          <a:lstStyle/>
          <a:p>
            <a:pPr algn="just"/>
            <a:r>
              <a:rPr lang="en-US" sz="1200" dirty="0">
                <a:latin typeface="Arial" panose="020B0604020202020204" pitchFamily="34" charset="0"/>
                <a:cs typeface="Arial" panose="020B0604020202020204" pitchFamily="34" charset="0"/>
              </a:rPr>
              <a:t>Comment results:</a:t>
            </a:r>
            <a:endParaRPr lang="pl-PL"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a:p>
            <a:pPr algn="just"/>
            <a:r>
              <a:rPr lang="en-US" sz="1200" dirty="0">
                <a:latin typeface="Arial" panose="020B0604020202020204" pitchFamily="34" charset="0"/>
                <a:cs typeface="Arial" panose="020B0604020202020204" pitchFamily="34" charset="0"/>
              </a:rPr>
              <a:t>The simulation accurately reflects the theoretical design. By setting the arm length difference to 286 um, the resulting transfer function exhibits dense, periodic oscillations. As visible on the graph, the distance between consecutive transmission peaks (the FSR) is exactly 2 nm across the simulated spectrum, confirming the correctness of the calculations and the MZI model. </a:t>
            </a:r>
          </a:p>
          <a:p>
            <a:pPr algn="just"/>
            <a:endParaRPr lang="en-US" sz="1200" dirty="0">
              <a:latin typeface="Arial" panose="020B0604020202020204" pitchFamily="34" charset="0"/>
              <a:cs typeface="Arial" panose="020B0604020202020204" pitchFamily="34" charset="0"/>
            </a:endParaRPr>
          </a:p>
        </p:txBody>
      </p:sp>
      <p:sp>
        <p:nvSpPr>
          <p:cNvPr id="11" name="Rectángulo 10">
            <a:extLst>
              <a:ext uri="{FF2B5EF4-FFF2-40B4-BE49-F238E27FC236}">
                <a16:creationId xmlns:a16="http://schemas.microsoft.com/office/drawing/2014/main" id="{B811A5F9-C0B5-716C-70FB-9472E1BC2CD3}"/>
              </a:ext>
            </a:extLst>
          </p:cNvPr>
          <p:cNvSpPr/>
          <p:nvPr/>
        </p:nvSpPr>
        <p:spPr>
          <a:xfrm>
            <a:off x="611030" y="1418373"/>
            <a:ext cx="3810000" cy="3306028"/>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CuadroTexto 11">
            <a:extLst>
              <a:ext uri="{FF2B5EF4-FFF2-40B4-BE49-F238E27FC236}">
                <a16:creationId xmlns:a16="http://schemas.microsoft.com/office/drawing/2014/main" id="{1D17C364-5A66-F740-B152-8B41A2A4EF26}"/>
              </a:ext>
            </a:extLst>
          </p:cNvPr>
          <p:cNvSpPr txBox="1"/>
          <p:nvPr/>
        </p:nvSpPr>
        <p:spPr>
          <a:xfrm>
            <a:off x="5305711" y="2494307"/>
            <a:ext cx="2494977" cy="1015663"/>
          </a:xfrm>
          <a:prstGeom prst="rect">
            <a:avLst/>
          </a:prstGeom>
          <a:noFill/>
        </p:spPr>
        <p:txBody>
          <a:bodyPr wrap="none" rtlCol="0">
            <a:spAutoFit/>
          </a:bodyPr>
          <a:lstStyle/>
          <a:p>
            <a:pPr algn="ctr"/>
            <a:r>
              <a:rPr lang="es-ES" sz="2000" dirty="0"/>
              <a:t>MZI transfer </a:t>
            </a:r>
            <a:r>
              <a:rPr lang="es-ES" sz="2000" dirty="0" err="1"/>
              <a:t>functions</a:t>
            </a:r>
            <a:endParaRPr lang="en-US" sz="2000" dirty="0"/>
          </a:p>
          <a:p>
            <a:pPr algn="ctr"/>
            <a:endParaRPr lang="en-US" sz="2000" dirty="0"/>
          </a:p>
          <a:p>
            <a:pPr algn="ctr"/>
            <a:r>
              <a:rPr lang="en-US" sz="2000" dirty="0"/>
              <a:t>Paste plot here</a:t>
            </a:r>
          </a:p>
        </p:txBody>
      </p:sp>
      <p:sp>
        <p:nvSpPr>
          <p:cNvPr id="3" name="Rectángulo 2">
            <a:extLst>
              <a:ext uri="{FF2B5EF4-FFF2-40B4-BE49-F238E27FC236}">
                <a16:creationId xmlns:a16="http://schemas.microsoft.com/office/drawing/2014/main" id="{5FB43DF1-4048-35BF-BD58-4BF2A341D2EF}"/>
              </a:ext>
            </a:extLst>
          </p:cNvPr>
          <p:cNvSpPr/>
          <p:nvPr/>
        </p:nvSpPr>
        <p:spPr>
          <a:xfrm>
            <a:off x="8610601" y="1418373"/>
            <a:ext cx="3199959" cy="3306028"/>
          </a:xfrm>
          <a:prstGeom prst="rect">
            <a:avLst/>
          </a:prstGeom>
          <a:solidFill>
            <a:schemeClr val="bg1">
              <a:lumMod val="95000"/>
            </a:schemeClr>
          </a:solid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t" anchorCtr="0"/>
          <a:lstStyle/>
          <a:p>
            <a:pPr algn="just"/>
            <a:r>
              <a:rPr lang="en-US" b="1" dirty="0">
                <a:solidFill>
                  <a:schemeClr val="tx1"/>
                </a:solidFill>
                <a:latin typeface="Arial" panose="020B0604020202020204" pitchFamily="34" charset="0"/>
                <a:cs typeface="Arial" panose="020B0604020202020204" pitchFamily="34" charset="0"/>
              </a:rPr>
              <a:t>Hints:</a:t>
            </a:r>
            <a:endParaRPr lang="en-US" dirty="0">
              <a:solidFill>
                <a:schemeClr val="tx1"/>
              </a:solidFill>
              <a:latin typeface="Arial" panose="020B0604020202020204" pitchFamily="34" charset="0"/>
              <a:cs typeface="Arial" panose="020B0604020202020204" pitchFamily="34" charset="0"/>
            </a:endParaRPr>
          </a:p>
          <a:p>
            <a:pPr algn="just"/>
            <a:r>
              <a:rPr lang="en-US" dirty="0" err="1">
                <a:solidFill>
                  <a:schemeClr val="tx1"/>
                </a:solidFill>
                <a:latin typeface="Arial" panose="020B0604020202020204" pitchFamily="34" charset="0"/>
                <a:cs typeface="Arial" panose="020B0604020202020204" pitchFamily="34" charset="0"/>
                <a:sym typeface="Wingdings" pitchFamily="2" charset="2"/>
              </a:rPr>
              <a:t>wvl</a:t>
            </a:r>
            <a:r>
              <a:rPr lang="en-US" dirty="0">
                <a:solidFill>
                  <a:schemeClr val="tx1"/>
                </a:solidFill>
                <a:latin typeface="Arial" panose="020B0604020202020204" pitchFamily="34" charset="0"/>
                <a:cs typeface="Arial" panose="020B0604020202020204" pitchFamily="34" charset="0"/>
                <a:sym typeface="Wingdings" pitchFamily="2" charset="2"/>
              </a:rPr>
              <a:t> [1500-1600] step 0.001</a:t>
            </a:r>
          </a:p>
          <a:p>
            <a:pPr algn="just"/>
            <a:r>
              <a:rPr lang="en-US" dirty="0">
                <a:solidFill>
                  <a:schemeClr val="tx1"/>
                </a:solidFill>
                <a:latin typeface="Arial" panose="020B0604020202020204" pitchFamily="34" charset="0"/>
                <a:cs typeface="Arial" panose="020B0604020202020204" pitchFamily="34" charset="0"/>
                <a:sym typeface="Wingdings" pitchFamily="2" charset="2"/>
              </a:rPr>
              <a:t>dL = ? µm </a:t>
            </a:r>
            <a:r>
              <a:rPr lang="en-US" b="1" dirty="0">
                <a:solidFill>
                  <a:schemeClr val="tx1"/>
                </a:solidFill>
                <a:latin typeface="Arial" panose="020B0604020202020204" pitchFamily="34" charset="0"/>
                <a:cs typeface="Arial" panose="020B0604020202020204" pitchFamily="34" charset="0"/>
                <a:sym typeface="Wingdings" pitchFamily="2" charset="2"/>
              </a:rPr>
              <a:t>calculate for FSR = 2 nm </a:t>
            </a:r>
          </a:p>
          <a:p>
            <a:pPr algn="just"/>
            <a:r>
              <a:rPr lang="en-US" dirty="0">
                <a:solidFill>
                  <a:schemeClr val="tx1"/>
                </a:solidFill>
                <a:latin typeface="Arial" panose="020B0604020202020204" pitchFamily="34" charset="0"/>
                <a:cs typeface="Arial" panose="020B0604020202020204" pitchFamily="34" charset="0"/>
                <a:sym typeface="Wingdings" pitchFamily="2" charset="2"/>
              </a:rPr>
              <a:t>Ka = </a:t>
            </a:r>
            <a:r>
              <a:rPr lang="en-US" dirty="0" err="1">
                <a:solidFill>
                  <a:schemeClr val="tx1"/>
                </a:solidFill>
                <a:latin typeface="Arial" panose="020B0604020202020204" pitchFamily="34" charset="0"/>
                <a:cs typeface="Arial" panose="020B0604020202020204" pitchFamily="34" charset="0"/>
                <a:sym typeface="Wingdings" pitchFamily="2" charset="2"/>
              </a:rPr>
              <a:t>Kb</a:t>
            </a:r>
            <a:r>
              <a:rPr lang="en-US" dirty="0">
                <a:solidFill>
                  <a:schemeClr val="tx1"/>
                </a:solidFill>
                <a:latin typeface="Arial" panose="020B0604020202020204" pitchFamily="34" charset="0"/>
                <a:cs typeface="Arial" panose="020B0604020202020204" pitchFamily="34" charset="0"/>
                <a:sym typeface="Wingdings" pitchFamily="2" charset="2"/>
              </a:rPr>
              <a:t> = 0.5 for all </a:t>
            </a:r>
            <a:r>
              <a:rPr lang="en-US" dirty="0" err="1">
                <a:solidFill>
                  <a:schemeClr val="tx1"/>
                </a:solidFill>
                <a:latin typeface="Arial" panose="020B0604020202020204" pitchFamily="34" charset="0"/>
                <a:cs typeface="Arial" panose="020B0604020202020204" pitchFamily="34" charset="0"/>
                <a:sym typeface="Wingdings" pitchFamily="2" charset="2"/>
              </a:rPr>
              <a:t>wvl</a:t>
            </a:r>
            <a:endParaRPr lang="en-US" dirty="0">
              <a:solidFill>
                <a:schemeClr val="tx1"/>
              </a:solidFill>
              <a:latin typeface="Arial" panose="020B0604020202020204" pitchFamily="34" charset="0"/>
              <a:cs typeface="Arial" panose="020B0604020202020204" pitchFamily="34" charset="0"/>
              <a:sym typeface="Wingdings" pitchFamily="2" charset="2"/>
            </a:endParaRPr>
          </a:p>
          <a:p>
            <a:pPr algn="just"/>
            <a:endParaRPr lang="en-US" sz="1200" dirty="0">
              <a:solidFill>
                <a:schemeClr val="tx1"/>
              </a:solidFill>
              <a:latin typeface="Arial" panose="020B0604020202020204" pitchFamily="34" charset="0"/>
              <a:cs typeface="Arial" panose="020B0604020202020204" pitchFamily="34" charset="0"/>
            </a:endParaRPr>
          </a:p>
          <a:p>
            <a:pPr algn="just"/>
            <a:endParaRPr lang="en-US" sz="1200" dirty="0">
              <a:solidFill>
                <a:schemeClr val="tx1"/>
              </a:solidFill>
              <a:latin typeface="Arial" panose="020B0604020202020204" pitchFamily="34" charset="0"/>
              <a:cs typeface="Arial" panose="020B0604020202020204" pitchFamily="34" charset="0"/>
            </a:endParaRPr>
          </a:p>
        </p:txBody>
      </p:sp>
      <p:sp>
        <p:nvSpPr>
          <p:cNvPr id="14" name="Rectángulo 13">
            <a:extLst>
              <a:ext uri="{FF2B5EF4-FFF2-40B4-BE49-F238E27FC236}">
                <a16:creationId xmlns:a16="http://schemas.microsoft.com/office/drawing/2014/main" id="{6AA857E7-5C39-DCE1-10B5-40300FCF4B26}"/>
              </a:ext>
            </a:extLst>
          </p:cNvPr>
          <p:cNvSpPr/>
          <p:nvPr/>
        </p:nvSpPr>
        <p:spPr>
          <a:xfrm>
            <a:off x="4648200" y="1418373"/>
            <a:ext cx="3810000" cy="3306028"/>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CuadroTexto 14">
            <a:extLst>
              <a:ext uri="{FF2B5EF4-FFF2-40B4-BE49-F238E27FC236}">
                <a16:creationId xmlns:a16="http://schemas.microsoft.com/office/drawing/2014/main" id="{54CF28B4-1346-F41D-2CD8-EA104ABBFB98}"/>
              </a:ext>
            </a:extLst>
          </p:cNvPr>
          <p:cNvSpPr txBox="1"/>
          <p:nvPr/>
        </p:nvSpPr>
        <p:spPr>
          <a:xfrm>
            <a:off x="685800" y="1500449"/>
            <a:ext cx="3505158" cy="3108543"/>
          </a:xfrm>
          <a:prstGeom prst="rect">
            <a:avLst/>
          </a:prstGeom>
          <a:noFill/>
        </p:spPr>
        <p:txBody>
          <a:bodyPr wrap="square" rtlCol="0">
            <a:spAutoFit/>
          </a:bodyPr>
          <a:lstStyle/>
          <a:p>
            <a:r>
              <a:rPr lang="en-US" sz="1400" b="1" dirty="0"/>
              <a:t>Design justification:</a:t>
            </a:r>
          </a:p>
          <a:p>
            <a:r>
              <a:rPr lang="en-US" sz="1400" dirty="0"/>
              <a:t>To achieve the target FSR, we must find the required path length difference (dL) between the MZI arms. FSR is inversely proportional to this length difference. </a:t>
            </a:r>
          </a:p>
          <a:p>
            <a:endParaRPr lang="en-US" sz="1400" dirty="0"/>
          </a:p>
          <a:p>
            <a:r>
              <a:rPr lang="en-US" sz="1400" dirty="0"/>
              <a:t>Equations &amp; Numbers:</a:t>
            </a:r>
          </a:p>
          <a:p>
            <a:r>
              <a:rPr lang="en-US" sz="1400" dirty="0"/>
              <a:t>Formula: dL = lambda^2 / (n</a:t>
            </a:r>
            <a:r>
              <a:rPr lang="pl-PL" sz="1400" dirty="0"/>
              <a:t>_</a:t>
            </a:r>
            <a:r>
              <a:rPr lang="en-US" sz="1400" dirty="0"/>
              <a:t>g * FSR)</a:t>
            </a:r>
          </a:p>
          <a:p>
            <a:r>
              <a:rPr lang="en-US" sz="1400" dirty="0"/>
              <a:t>Values: central lambda = 1550 nm, </a:t>
            </a:r>
            <a:r>
              <a:rPr lang="en-US" sz="1400" dirty="0" err="1"/>
              <a:t>n_g</a:t>
            </a:r>
            <a:r>
              <a:rPr lang="en-US" sz="1400" dirty="0"/>
              <a:t> = 4.2 (silicon), target FSR = 2 nm</a:t>
            </a:r>
          </a:p>
          <a:p>
            <a:endParaRPr lang="en-US" sz="1400" dirty="0"/>
          </a:p>
          <a:p>
            <a:r>
              <a:rPr lang="en-US" sz="1400" dirty="0"/>
              <a:t>Calculation: </a:t>
            </a:r>
          </a:p>
          <a:p>
            <a:r>
              <a:rPr lang="en-US" sz="1400" dirty="0"/>
              <a:t>dL = (1550 * 10^-9 m)^2 / (4.2 * 2 * 10^-9 m)</a:t>
            </a:r>
          </a:p>
          <a:p>
            <a:r>
              <a:rPr lang="en-US" sz="1400" dirty="0"/>
              <a:t>dL = 0.000286 m = 286 um</a:t>
            </a:r>
          </a:p>
        </p:txBody>
      </p:sp>
      <p:pic>
        <p:nvPicPr>
          <p:cNvPr id="10" name="Gráfico 9">
            <a:extLst>
              <a:ext uri="{FF2B5EF4-FFF2-40B4-BE49-F238E27FC236}">
                <a16:creationId xmlns:a16="http://schemas.microsoft.com/office/drawing/2014/main" id="{C582D9ED-A2CE-6C08-D473-4C1FC636E811}"/>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5045006" y="6356057"/>
            <a:ext cx="6409575" cy="363174"/>
          </a:xfrm>
          <a:prstGeom prst="rect">
            <a:avLst/>
          </a:prstGeom>
        </p:spPr>
      </p:pic>
      <p:sp>
        <p:nvSpPr>
          <p:cNvPr id="13" name="object 16">
            <a:extLst>
              <a:ext uri="{FF2B5EF4-FFF2-40B4-BE49-F238E27FC236}">
                <a16:creationId xmlns:a16="http://schemas.microsoft.com/office/drawing/2014/main" id="{98DA9316-CFD5-58C0-735F-237403D53172}"/>
              </a:ext>
            </a:extLst>
          </p:cNvPr>
          <p:cNvSpPr txBox="1">
            <a:spLocks/>
          </p:cNvSpPr>
          <p:nvPr/>
        </p:nvSpPr>
        <p:spPr>
          <a:xfrm>
            <a:off x="685800" y="408883"/>
            <a:ext cx="10994410" cy="1025922"/>
          </a:xfrm>
          <a:prstGeom prst="rect">
            <a:avLst/>
          </a:prstGeom>
        </p:spPr>
        <p:txBody>
          <a:bodyPr vert="horz" wrap="square" lIns="0" tIns="12700" rIns="0" bIns="0" rtlCol="0">
            <a:spAutoFit/>
          </a:bodyPr>
          <a:lstStyle>
            <a:lvl1pPr>
              <a:defRPr sz="2000" b="1" i="0">
                <a:solidFill>
                  <a:schemeClr val="tx1"/>
                </a:solidFill>
                <a:latin typeface="Calibri"/>
                <a:ea typeface="+mj-ea"/>
                <a:cs typeface="Calibri"/>
              </a:defRPr>
            </a:lvl1pPr>
          </a:lstStyle>
          <a:p>
            <a:pPr marL="12700">
              <a:spcBef>
                <a:spcPts val="100"/>
              </a:spcBef>
            </a:pPr>
            <a:r>
              <a:rPr lang="en-US" sz="2500" kern="0" dirty="0"/>
              <a:t>Learning outcome #2 – MZI Design</a:t>
            </a:r>
          </a:p>
          <a:p>
            <a:pPr marL="12700">
              <a:spcBef>
                <a:spcPts val="100"/>
              </a:spcBef>
            </a:pPr>
            <a:r>
              <a:rPr lang="en-US" b="0" kern="0" spc="-5" dirty="0">
                <a:latin typeface="+mj-lt"/>
                <a:cs typeface="Lucida Sans"/>
              </a:rPr>
              <a:t>Design a MZI with FSR = 10 nm at 1550 nm</a:t>
            </a:r>
            <a:br>
              <a:rPr lang="en-US" b="0" kern="0" spc="-5" dirty="0">
                <a:latin typeface="+mj-lt"/>
                <a:cs typeface="Lucida Sans"/>
              </a:rPr>
            </a:br>
            <a:endParaRPr lang="en-US" b="0" kern="0" dirty="0">
              <a:latin typeface="+mj-lt"/>
              <a:cs typeface="Lucida Sans"/>
            </a:endParaRPr>
          </a:p>
        </p:txBody>
      </p:sp>
      <p:pic>
        <p:nvPicPr>
          <p:cNvPr id="4" name="Obraz 3">
            <a:extLst>
              <a:ext uri="{FF2B5EF4-FFF2-40B4-BE49-F238E27FC236}">
                <a16:creationId xmlns:a16="http://schemas.microsoft.com/office/drawing/2014/main" id="{3D87859F-FAC6-A4FB-89A2-86145AB8A7DB}"/>
              </a:ext>
            </a:extLst>
          </p:cNvPr>
          <p:cNvPicPr>
            <a:picLocks noChangeAspect="1"/>
          </p:cNvPicPr>
          <p:nvPr/>
        </p:nvPicPr>
        <p:blipFill>
          <a:blip r:embed="rId3"/>
          <a:stretch>
            <a:fillRect/>
          </a:stretch>
        </p:blipFill>
        <p:spPr>
          <a:xfrm>
            <a:off x="4698266" y="2039091"/>
            <a:ext cx="3709866" cy="2031257"/>
          </a:xfrm>
          <a:prstGeom prst="rect">
            <a:avLst/>
          </a:prstGeom>
        </p:spPr>
      </p:pic>
    </p:spTree>
    <p:extLst>
      <p:ext uri="{BB962C8B-B14F-4D97-AF65-F5344CB8AC3E}">
        <p14:creationId xmlns:p14="http://schemas.microsoft.com/office/powerpoint/2010/main" val="122265446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01636B-7BF0-5143-57E9-673FF1B33E8E}"/>
            </a:ext>
          </a:extLst>
        </p:cNvPr>
        <p:cNvGrpSpPr/>
        <p:nvPr/>
      </p:nvGrpSpPr>
      <p:grpSpPr>
        <a:xfrm>
          <a:off x="0" y="0"/>
          <a:ext cx="0" cy="0"/>
          <a:chOff x="0" y="0"/>
          <a:chExt cx="0" cy="0"/>
        </a:xfrm>
      </p:grpSpPr>
      <p:sp>
        <p:nvSpPr>
          <p:cNvPr id="5" name="Marcador de pie de página 4">
            <a:extLst>
              <a:ext uri="{FF2B5EF4-FFF2-40B4-BE49-F238E27FC236}">
                <a16:creationId xmlns:a16="http://schemas.microsoft.com/office/drawing/2014/main" id="{D79F9CCB-631D-A124-3694-9DBF91E01CAA}"/>
              </a:ext>
            </a:extLst>
          </p:cNvPr>
          <p:cNvSpPr>
            <a:spLocks noGrp="1"/>
          </p:cNvSpPr>
          <p:nvPr>
            <p:ph type="ftr" sz="quarter" idx="5"/>
          </p:nvPr>
        </p:nvSpPr>
        <p:spPr/>
        <p:txBody>
          <a:bodyPr/>
          <a:lstStyle/>
          <a:p>
            <a:r>
              <a:rPr lang="en-US"/>
              <a:t>LAB 3.0. CIRCUITS &amp; COMPACT MODELS</a:t>
            </a:r>
          </a:p>
        </p:txBody>
      </p:sp>
      <p:sp>
        <p:nvSpPr>
          <p:cNvPr id="6" name="Marcador de número de diapositiva 5">
            <a:extLst>
              <a:ext uri="{FF2B5EF4-FFF2-40B4-BE49-F238E27FC236}">
                <a16:creationId xmlns:a16="http://schemas.microsoft.com/office/drawing/2014/main" id="{DED76083-7F21-5E97-9AC1-DEEB9C8B23CA}"/>
              </a:ext>
            </a:extLst>
          </p:cNvPr>
          <p:cNvSpPr>
            <a:spLocks noGrp="1"/>
          </p:cNvSpPr>
          <p:nvPr>
            <p:ph type="sldNum" sz="quarter" idx="7"/>
          </p:nvPr>
        </p:nvSpPr>
        <p:spPr/>
        <p:txBody>
          <a:bodyPr/>
          <a:lstStyle/>
          <a:p>
            <a:fld id="{C2F52289-4012-4053-9770-FE82CEB9514F}" type="slidenum">
              <a:rPr lang="en-US" smtClean="0"/>
              <a:pPr/>
              <a:t>7</a:t>
            </a:fld>
            <a:endParaRPr lang="en-US" dirty="0"/>
          </a:p>
        </p:txBody>
      </p:sp>
      <p:pic>
        <p:nvPicPr>
          <p:cNvPr id="10" name="Gráfico 9">
            <a:extLst>
              <a:ext uri="{FF2B5EF4-FFF2-40B4-BE49-F238E27FC236}">
                <a16:creationId xmlns:a16="http://schemas.microsoft.com/office/drawing/2014/main" id="{6A4FE9E0-92EE-4367-CEE1-FB072709D7E8}"/>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5045006" y="6356057"/>
            <a:ext cx="6409575" cy="363174"/>
          </a:xfrm>
          <a:prstGeom prst="rect">
            <a:avLst/>
          </a:prstGeom>
        </p:spPr>
      </p:pic>
      <p:sp>
        <p:nvSpPr>
          <p:cNvPr id="13" name="object 16">
            <a:extLst>
              <a:ext uri="{FF2B5EF4-FFF2-40B4-BE49-F238E27FC236}">
                <a16:creationId xmlns:a16="http://schemas.microsoft.com/office/drawing/2014/main" id="{1E286371-F443-FD5C-BF57-FB23A8D7F4F7}"/>
              </a:ext>
            </a:extLst>
          </p:cNvPr>
          <p:cNvSpPr txBox="1">
            <a:spLocks/>
          </p:cNvSpPr>
          <p:nvPr/>
        </p:nvSpPr>
        <p:spPr>
          <a:xfrm>
            <a:off x="685800" y="408883"/>
            <a:ext cx="10994410" cy="718145"/>
          </a:xfrm>
          <a:prstGeom prst="rect">
            <a:avLst/>
          </a:prstGeom>
        </p:spPr>
        <p:txBody>
          <a:bodyPr vert="horz" wrap="square" lIns="0" tIns="12700" rIns="0" bIns="0" rtlCol="0">
            <a:spAutoFit/>
          </a:bodyPr>
          <a:lstStyle>
            <a:lvl1pPr>
              <a:defRPr sz="2000" b="1" i="0">
                <a:solidFill>
                  <a:schemeClr val="tx1"/>
                </a:solidFill>
                <a:latin typeface="Calibri"/>
                <a:ea typeface="+mj-ea"/>
                <a:cs typeface="Calibri"/>
              </a:defRPr>
            </a:lvl1pPr>
          </a:lstStyle>
          <a:p>
            <a:pPr marL="12700">
              <a:spcBef>
                <a:spcPts val="100"/>
              </a:spcBef>
            </a:pPr>
            <a:r>
              <a:rPr lang="en-US" sz="2500" kern="0" dirty="0"/>
              <a:t>Learning outcome #3 – Delay imbalance with loss</a:t>
            </a:r>
          </a:p>
          <a:p>
            <a:pPr marL="12700">
              <a:spcBef>
                <a:spcPts val="100"/>
              </a:spcBef>
            </a:pPr>
            <a:r>
              <a:rPr lang="en-US" b="0" kern="0" spc="-5" dirty="0">
                <a:latin typeface="+mj-lt"/>
                <a:cs typeface="Lucida Sans"/>
              </a:rPr>
              <a:t>Fringe visibility</a:t>
            </a:r>
            <a:endParaRPr lang="en-US" b="0" kern="0" dirty="0">
              <a:latin typeface="+mj-lt"/>
              <a:cs typeface="Lucida Sans"/>
            </a:endParaRPr>
          </a:p>
        </p:txBody>
      </p:sp>
      <p:sp>
        <p:nvSpPr>
          <p:cNvPr id="2" name="CuadroTexto 1">
            <a:extLst>
              <a:ext uri="{FF2B5EF4-FFF2-40B4-BE49-F238E27FC236}">
                <a16:creationId xmlns:a16="http://schemas.microsoft.com/office/drawing/2014/main" id="{F1C12A10-91CE-B5DA-9D77-267ED06AEAC2}"/>
              </a:ext>
            </a:extLst>
          </p:cNvPr>
          <p:cNvSpPr txBox="1"/>
          <p:nvPr/>
        </p:nvSpPr>
        <p:spPr>
          <a:xfrm>
            <a:off x="609441" y="4860334"/>
            <a:ext cx="11199971" cy="1138773"/>
          </a:xfrm>
          <a:prstGeom prst="rect">
            <a:avLst/>
          </a:prstGeom>
          <a:solidFill>
            <a:schemeClr val="bg1">
              <a:lumMod val="95000"/>
            </a:schemeClr>
          </a:solidFill>
          <a:ln w="28575">
            <a:solidFill>
              <a:srgbClr val="E0700D"/>
            </a:solidFill>
          </a:ln>
        </p:spPr>
        <p:txBody>
          <a:bodyPr wrap="square" rtlCol="0">
            <a:spAutoFit/>
          </a:bodyPr>
          <a:lstStyle/>
          <a:p>
            <a:pPr algn="just"/>
            <a:r>
              <a:rPr lang="en-US" sz="1200" dirty="0">
                <a:latin typeface="Arial" panose="020B0604020202020204" pitchFamily="34" charset="0"/>
                <a:cs typeface="Arial" panose="020B0604020202020204" pitchFamily="34" charset="0"/>
              </a:rPr>
              <a:t>Comment results: describe the transfer function, is there any interference pattern in case 1? Is there any interference pattern in case 2? Explain the difference between both cases. Compare the Extinction Ratio of both variations. </a:t>
            </a:r>
          </a:p>
          <a:p>
            <a:pPr algn="just"/>
            <a:r>
              <a:rPr lang="en-US" sz="1200" dirty="0">
                <a:latin typeface="Arial" panose="020B0604020202020204" pitchFamily="34" charset="0"/>
                <a:cs typeface="Arial" panose="020B0604020202020204" pitchFamily="34" charset="0"/>
              </a:rPr>
              <a:t>Extra: What coupling coefficient will you select for the input coupler if you want to match the losses of the longer arm? Simulate and extract the ER.</a:t>
            </a:r>
          </a:p>
          <a:p>
            <a:pPr algn="just"/>
            <a:endParaRPr lang="pl-PL" sz="1200" dirty="0">
              <a:latin typeface="Arial" panose="020B0604020202020204" pitchFamily="34" charset="0"/>
              <a:cs typeface="Arial" panose="020B0604020202020204" pitchFamily="34" charset="0"/>
            </a:endParaRPr>
          </a:p>
          <a:p>
            <a:pPr algn="just"/>
            <a:r>
              <a:rPr lang="pl-PL" sz="2000" b="1" i="1" dirty="0">
                <a:solidFill>
                  <a:srgbClr val="FF0000"/>
                </a:solidFill>
                <a:latin typeface="Arial" panose="020B0604020202020204" pitchFamily="34" charset="0"/>
                <a:cs typeface="Arial" panose="020B0604020202020204" pitchFamily="34" charset="0"/>
              </a:rPr>
              <a:t>NEXT SLIDES</a:t>
            </a:r>
            <a:endParaRPr lang="en-US" sz="2000" b="1" i="1" dirty="0">
              <a:solidFill>
                <a:srgbClr val="FF0000"/>
              </a:solidFill>
              <a:latin typeface="Arial" panose="020B0604020202020204" pitchFamily="34" charset="0"/>
              <a:cs typeface="Arial" panose="020B0604020202020204" pitchFamily="34" charset="0"/>
            </a:endParaRPr>
          </a:p>
        </p:txBody>
      </p:sp>
      <p:sp>
        <p:nvSpPr>
          <p:cNvPr id="4" name="Rectángulo 3">
            <a:extLst>
              <a:ext uri="{FF2B5EF4-FFF2-40B4-BE49-F238E27FC236}">
                <a16:creationId xmlns:a16="http://schemas.microsoft.com/office/drawing/2014/main" id="{FDBAE930-4EE5-671B-4DE7-6BC60C48E7C0}"/>
              </a:ext>
            </a:extLst>
          </p:cNvPr>
          <p:cNvSpPr/>
          <p:nvPr/>
        </p:nvSpPr>
        <p:spPr>
          <a:xfrm>
            <a:off x="609441" y="1418373"/>
            <a:ext cx="5332571" cy="3306028"/>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ángulo 6">
            <a:extLst>
              <a:ext uri="{FF2B5EF4-FFF2-40B4-BE49-F238E27FC236}">
                <a16:creationId xmlns:a16="http://schemas.microsoft.com/office/drawing/2014/main" id="{A6CCE634-FF91-FD5F-7C1D-4329E9DA2469}"/>
              </a:ext>
            </a:extLst>
          </p:cNvPr>
          <p:cNvSpPr/>
          <p:nvPr/>
        </p:nvSpPr>
        <p:spPr>
          <a:xfrm>
            <a:off x="6476400" y="1418373"/>
            <a:ext cx="5332571" cy="3306028"/>
          </a:xfrm>
          <a:prstGeom prst="rect">
            <a:avLst/>
          </a:prstGeom>
          <a:solidFill>
            <a:schemeClr val="bg1">
              <a:lumMod val="95000"/>
            </a:schemeClr>
          </a:solid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t" anchorCtr="0"/>
          <a:lstStyle/>
          <a:p>
            <a:pPr algn="just"/>
            <a:r>
              <a:rPr lang="en-US" sz="1600" b="1" dirty="0">
                <a:solidFill>
                  <a:schemeClr val="tx1"/>
                </a:solidFill>
                <a:latin typeface="Arial" panose="020B0604020202020204" pitchFamily="34" charset="0"/>
                <a:cs typeface="Arial" panose="020B0604020202020204" pitchFamily="34" charset="0"/>
              </a:rPr>
              <a:t>Hints:</a:t>
            </a:r>
          </a:p>
          <a:p>
            <a:pPr algn="just"/>
            <a:r>
              <a:rPr lang="en-US" sz="1600" dirty="0" err="1">
                <a:solidFill>
                  <a:schemeClr val="tx1"/>
                </a:solidFill>
                <a:latin typeface="Arial" panose="020B0604020202020204" pitchFamily="34" charset="0"/>
                <a:cs typeface="Arial" panose="020B0604020202020204" pitchFamily="34" charset="0"/>
                <a:sym typeface="Wingdings" pitchFamily="2" charset="2"/>
              </a:rPr>
              <a:t>wvl</a:t>
            </a:r>
            <a:r>
              <a:rPr lang="en-US" sz="1600" dirty="0">
                <a:solidFill>
                  <a:schemeClr val="tx1"/>
                </a:solidFill>
                <a:latin typeface="Arial" panose="020B0604020202020204" pitchFamily="34" charset="0"/>
                <a:cs typeface="Arial" panose="020B0604020202020204" pitchFamily="34" charset="0"/>
                <a:sym typeface="Wingdings" pitchFamily="2" charset="2"/>
              </a:rPr>
              <a:t> [1550-1550.5] step 0.0000005</a:t>
            </a:r>
          </a:p>
          <a:p>
            <a:pPr algn="just"/>
            <a:r>
              <a:rPr lang="en-US" sz="1600" dirty="0">
                <a:solidFill>
                  <a:schemeClr val="tx1"/>
                </a:solidFill>
                <a:latin typeface="Arial" panose="020B0604020202020204" pitchFamily="34" charset="0"/>
                <a:cs typeface="Arial" panose="020B0604020202020204" pitchFamily="34" charset="0"/>
                <a:sym typeface="Wingdings" pitchFamily="2" charset="2"/>
              </a:rPr>
              <a:t>Silicon waveguide model:</a:t>
            </a:r>
          </a:p>
          <a:p>
            <a:pPr algn="just"/>
            <a:r>
              <a:rPr lang="en-US" sz="1600" dirty="0" err="1">
                <a:solidFill>
                  <a:schemeClr val="tx1"/>
                </a:solidFill>
                <a:latin typeface="Arial" panose="020B0604020202020204" pitchFamily="34" charset="0"/>
                <a:cs typeface="Arial" panose="020B0604020202020204" pitchFamily="34" charset="0"/>
                <a:sym typeface="Wingdings" pitchFamily="2" charset="2"/>
              </a:rPr>
              <a:t>n_eff</a:t>
            </a:r>
            <a:r>
              <a:rPr lang="en-US" sz="1600" dirty="0">
                <a:solidFill>
                  <a:schemeClr val="tx1"/>
                </a:solidFill>
                <a:latin typeface="Arial" panose="020B0604020202020204" pitchFamily="34" charset="0"/>
                <a:cs typeface="Arial" panose="020B0604020202020204" pitchFamily="34" charset="0"/>
                <a:sym typeface="Wingdings" pitchFamily="2" charset="2"/>
              </a:rPr>
              <a:t> = 2.38, </a:t>
            </a:r>
          </a:p>
          <a:p>
            <a:pPr algn="just"/>
            <a:r>
              <a:rPr lang="en-US" sz="1600" dirty="0" err="1">
                <a:solidFill>
                  <a:schemeClr val="tx1"/>
                </a:solidFill>
                <a:latin typeface="Arial" panose="020B0604020202020204" pitchFamily="34" charset="0"/>
                <a:cs typeface="Arial" panose="020B0604020202020204" pitchFamily="34" charset="0"/>
                <a:sym typeface="Wingdings" pitchFamily="2" charset="2"/>
              </a:rPr>
              <a:t>n_g</a:t>
            </a:r>
            <a:r>
              <a:rPr lang="en-US" sz="1600" dirty="0">
                <a:solidFill>
                  <a:schemeClr val="tx1"/>
                </a:solidFill>
                <a:latin typeface="Arial" panose="020B0604020202020204" pitchFamily="34" charset="0"/>
                <a:cs typeface="Arial" panose="020B0604020202020204" pitchFamily="34" charset="0"/>
                <a:sym typeface="Wingdings" pitchFamily="2" charset="2"/>
              </a:rPr>
              <a:t> = 4.25, </a:t>
            </a:r>
          </a:p>
          <a:p>
            <a:pPr algn="just"/>
            <a:r>
              <a:rPr lang="en-US" sz="1600" dirty="0">
                <a:solidFill>
                  <a:schemeClr val="tx1"/>
                </a:solidFill>
                <a:latin typeface="Arial" panose="020B0604020202020204" pitchFamily="34" charset="0"/>
                <a:cs typeface="Arial" panose="020B0604020202020204" pitchFamily="34" charset="0"/>
                <a:sym typeface="Wingdings" pitchFamily="2" charset="2"/>
              </a:rPr>
              <a:t>D=0,</a:t>
            </a:r>
          </a:p>
          <a:p>
            <a:pPr algn="just"/>
            <a:r>
              <a:rPr lang="en-US" sz="1600" dirty="0" err="1">
                <a:solidFill>
                  <a:schemeClr val="tx1"/>
                </a:solidFill>
                <a:latin typeface="Arial" panose="020B0604020202020204" pitchFamily="34" charset="0"/>
                <a:cs typeface="Arial" panose="020B0604020202020204" pitchFamily="34" charset="0"/>
                <a:sym typeface="Wingdings" pitchFamily="2" charset="2"/>
              </a:rPr>
              <a:t>L_base</a:t>
            </a:r>
            <a:r>
              <a:rPr lang="en-US" sz="1600" dirty="0">
                <a:solidFill>
                  <a:schemeClr val="tx1"/>
                </a:solidFill>
                <a:latin typeface="Arial" panose="020B0604020202020204" pitchFamily="34" charset="0"/>
                <a:cs typeface="Arial" panose="020B0604020202020204" pitchFamily="34" charset="0"/>
                <a:sym typeface="Wingdings" pitchFamily="2" charset="2"/>
              </a:rPr>
              <a:t>=1000</a:t>
            </a:r>
          </a:p>
          <a:p>
            <a:pPr algn="just"/>
            <a:r>
              <a:rPr lang="en-US" sz="1600" dirty="0">
                <a:solidFill>
                  <a:schemeClr val="tx1"/>
                </a:solidFill>
                <a:latin typeface="Arial" panose="020B0604020202020204" pitchFamily="34" charset="0"/>
                <a:cs typeface="Arial" panose="020B0604020202020204" pitchFamily="34" charset="0"/>
                <a:sym typeface="Wingdings" pitchFamily="2" charset="2"/>
              </a:rPr>
              <a:t>dL = </a:t>
            </a:r>
            <a:r>
              <a:rPr lang="en-US" sz="1600" dirty="0" err="1">
                <a:solidFill>
                  <a:schemeClr val="tx1"/>
                </a:solidFill>
                <a:latin typeface="Arial" panose="020B0604020202020204" pitchFamily="34" charset="0"/>
                <a:cs typeface="Arial" panose="020B0604020202020204" pitchFamily="34" charset="0"/>
                <a:sym typeface="Wingdings" pitchFamily="2" charset="2"/>
              </a:rPr>
              <a:t>L_base</a:t>
            </a:r>
            <a:r>
              <a:rPr lang="en-US" sz="1600" dirty="0">
                <a:solidFill>
                  <a:schemeClr val="tx1"/>
                </a:solidFill>
                <a:latin typeface="Arial" panose="020B0604020202020204" pitchFamily="34" charset="0"/>
                <a:cs typeface="Arial" panose="020B0604020202020204" pitchFamily="34" charset="0"/>
                <a:sym typeface="Wingdings" pitchFamily="2" charset="2"/>
              </a:rPr>
              <a:t> + 55960.0840224255;</a:t>
            </a:r>
          </a:p>
          <a:p>
            <a:pPr algn="just"/>
            <a:r>
              <a:rPr lang="en-US" sz="1600" dirty="0">
                <a:solidFill>
                  <a:schemeClr val="tx1"/>
                </a:solidFill>
                <a:latin typeface="Arial" panose="020B0604020202020204" pitchFamily="34" charset="0"/>
                <a:cs typeface="Arial" panose="020B0604020202020204" pitchFamily="34" charset="0"/>
                <a:sym typeface="Wingdings" pitchFamily="2" charset="2"/>
              </a:rPr>
              <a:t>loss = 4 dB / cm</a:t>
            </a:r>
          </a:p>
          <a:p>
            <a:pPr algn="just"/>
            <a:r>
              <a:rPr lang="en-US" sz="1600" b="1" dirty="0">
                <a:solidFill>
                  <a:schemeClr val="tx1"/>
                </a:solidFill>
                <a:latin typeface="Arial" panose="020B0604020202020204" pitchFamily="34" charset="0"/>
                <a:cs typeface="Arial" panose="020B0604020202020204" pitchFamily="34" charset="0"/>
                <a:sym typeface="Wingdings" pitchFamily="2" charset="2"/>
              </a:rPr>
              <a:t>Case 1</a:t>
            </a:r>
            <a:r>
              <a:rPr lang="en-US" sz="1600" dirty="0">
                <a:solidFill>
                  <a:schemeClr val="tx1"/>
                </a:solidFill>
                <a:latin typeface="Arial" panose="020B0604020202020204" pitchFamily="34" charset="0"/>
                <a:cs typeface="Arial" panose="020B0604020202020204" pitchFamily="34" charset="0"/>
                <a:sym typeface="Wingdings" pitchFamily="2" charset="2"/>
              </a:rPr>
              <a:t>. Simulate for Ka = </a:t>
            </a:r>
            <a:r>
              <a:rPr lang="en-US" sz="1600" dirty="0" err="1">
                <a:solidFill>
                  <a:schemeClr val="tx1"/>
                </a:solidFill>
                <a:latin typeface="Arial" panose="020B0604020202020204" pitchFamily="34" charset="0"/>
                <a:cs typeface="Arial" panose="020B0604020202020204" pitchFamily="34" charset="0"/>
                <a:sym typeface="Wingdings" pitchFamily="2" charset="2"/>
              </a:rPr>
              <a:t>Kb</a:t>
            </a:r>
            <a:r>
              <a:rPr lang="en-US" sz="1600" dirty="0">
                <a:solidFill>
                  <a:schemeClr val="tx1"/>
                </a:solidFill>
                <a:latin typeface="Arial" panose="020B0604020202020204" pitchFamily="34" charset="0"/>
                <a:cs typeface="Arial" panose="020B0604020202020204" pitchFamily="34" charset="0"/>
                <a:sym typeface="Wingdings" pitchFamily="2" charset="2"/>
              </a:rPr>
              <a:t> = 0.5 for all </a:t>
            </a:r>
            <a:r>
              <a:rPr lang="en-US" sz="1600" dirty="0" err="1">
                <a:solidFill>
                  <a:schemeClr val="tx1"/>
                </a:solidFill>
                <a:latin typeface="Arial" panose="020B0604020202020204" pitchFamily="34" charset="0"/>
                <a:cs typeface="Arial" panose="020B0604020202020204" pitchFamily="34" charset="0"/>
                <a:sym typeface="Wingdings" pitchFamily="2" charset="2"/>
              </a:rPr>
              <a:t>wvl</a:t>
            </a:r>
            <a:endParaRPr lang="en-US" sz="1600" dirty="0">
              <a:solidFill>
                <a:schemeClr val="tx1"/>
              </a:solidFill>
              <a:latin typeface="Arial" panose="020B0604020202020204" pitchFamily="34" charset="0"/>
              <a:cs typeface="Arial" panose="020B0604020202020204" pitchFamily="34" charset="0"/>
              <a:sym typeface="Wingdings" pitchFamily="2" charset="2"/>
            </a:endParaRPr>
          </a:p>
          <a:p>
            <a:pPr algn="just"/>
            <a:r>
              <a:rPr lang="en-US" sz="1600" b="1" dirty="0">
                <a:solidFill>
                  <a:schemeClr val="tx1"/>
                </a:solidFill>
                <a:latin typeface="Arial" panose="020B0604020202020204" pitchFamily="34" charset="0"/>
                <a:cs typeface="Arial" panose="020B0604020202020204" pitchFamily="34" charset="0"/>
                <a:sym typeface="Wingdings" pitchFamily="2" charset="2"/>
              </a:rPr>
              <a:t>Case 2</a:t>
            </a:r>
            <a:r>
              <a:rPr lang="en-US" sz="1600" dirty="0">
                <a:solidFill>
                  <a:schemeClr val="tx1"/>
                </a:solidFill>
                <a:latin typeface="Arial" panose="020B0604020202020204" pitchFamily="34" charset="0"/>
                <a:cs typeface="Arial" panose="020B0604020202020204" pitchFamily="34" charset="0"/>
                <a:sym typeface="Wingdings" pitchFamily="2" charset="2"/>
              </a:rPr>
              <a:t>. Simulate for Ka=0.1 for all </a:t>
            </a:r>
            <a:r>
              <a:rPr lang="en-US" sz="1600" dirty="0" err="1">
                <a:solidFill>
                  <a:schemeClr val="tx1"/>
                </a:solidFill>
                <a:latin typeface="Arial" panose="020B0604020202020204" pitchFamily="34" charset="0"/>
                <a:cs typeface="Arial" panose="020B0604020202020204" pitchFamily="34" charset="0"/>
                <a:sym typeface="Wingdings" pitchFamily="2" charset="2"/>
              </a:rPr>
              <a:t>wvl</a:t>
            </a:r>
            <a:endParaRPr lang="en-US" sz="1600" dirty="0">
              <a:solidFill>
                <a:schemeClr val="tx1"/>
              </a:solidFill>
              <a:latin typeface="Arial" panose="020B0604020202020204" pitchFamily="34" charset="0"/>
              <a:cs typeface="Arial" panose="020B0604020202020204" pitchFamily="34" charset="0"/>
              <a:sym typeface="Wingdings" pitchFamily="2" charset="2"/>
            </a:endParaRPr>
          </a:p>
          <a:p>
            <a:pPr algn="just"/>
            <a:r>
              <a:rPr lang="en-US" sz="1600" dirty="0" err="1">
                <a:solidFill>
                  <a:schemeClr val="tx1"/>
                </a:solidFill>
                <a:latin typeface="Arial" panose="020B0604020202020204" pitchFamily="34" charset="0"/>
                <a:cs typeface="Arial" panose="020B0604020202020204" pitchFamily="34" charset="0"/>
                <a:sym typeface="Wingdings" pitchFamily="2" charset="2"/>
              </a:rPr>
              <a:t>Kb</a:t>
            </a:r>
            <a:r>
              <a:rPr lang="en-US" sz="1600" dirty="0">
                <a:solidFill>
                  <a:schemeClr val="tx1"/>
                </a:solidFill>
                <a:latin typeface="Arial" panose="020B0604020202020204" pitchFamily="34" charset="0"/>
                <a:cs typeface="Arial" panose="020B0604020202020204" pitchFamily="34" charset="0"/>
                <a:sym typeface="Wingdings" pitchFamily="2" charset="2"/>
              </a:rPr>
              <a:t>=0.5 for all </a:t>
            </a:r>
            <a:r>
              <a:rPr lang="en-US" sz="1600" dirty="0" err="1">
                <a:solidFill>
                  <a:schemeClr val="tx1"/>
                </a:solidFill>
                <a:latin typeface="Arial" panose="020B0604020202020204" pitchFamily="34" charset="0"/>
                <a:cs typeface="Arial" panose="020B0604020202020204" pitchFamily="34" charset="0"/>
                <a:sym typeface="Wingdings" pitchFamily="2" charset="2"/>
              </a:rPr>
              <a:t>wvl</a:t>
            </a:r>
            <a:endParaRPr lang="en-US" sz="1600" dirty="0">
              <a:solidFill>
                <a:schemeClr val="tx1"/>
              </a:solidFill>
              <a:latin typeface="Arial" panose="020B0604020202020204" pitchFamily="34" charset="0"/>
              <a:cs typeface="Arial" panose="020B0604020202020204" pitchFamily="34" charset="0"/>
            </a:endParaRPr>
          </a:p>
        </p:txBody>
      </p:sp>
      <p:sp>
        <p:nvSpPr>
          <p:cNvPr id="9" name="CuadroTexto 8">
            <a:extLst>
              <a:ext uri="{FF2B5EF4-FFF2-40B4-BE49-F238E27FC236}">
                <a16:creationId xmlns:a16="http://schemas.microsoft.com/office/drawing/2014/main" id="{EF71FD03-8141-88A1-69BA-49588EB48896}"/>
              </a:ext>
            </a:extLst>
          </p:cNvPr>
          <p:cNvSpPr txBox="1"/>
          <p:nvPr/>
        </p:nvSpPr>
        <p:spPr>
          <a:xfrm>
            <a:off x="1865019" y="2494306"/>
            <a:ext cx="2821413" cy="1815882"/>
          </a:xfrm>
          <a:prstGeom prst="rect">
            <a:avLst/>
          </a:prstGeom>
          <a:noFill/>
        </p:spPr>
        <p:txBody>
          <a:bodyPr wrap="none" rtlCol="0">
            <a:spAutoFit/>
          </a:bodyPr>
          <a:lstStyle/>
          <a:p>
            <a:pPr algn="ctr"/>
            <a:r>
              <a:rPr lang="es-ES" dirty="0"/>
              <a:t>MZI transfer </a:t>
            </a:r>
            <a:r>
              <a:rPr lang="es-ES" dirty="0" err="1"/>
              <a:t>functions</a:t>
            </a:r>
            <a:endParaRPr lang="en-US" dirty="0"/>
          </a:p>
          <a:p>
            <a:pPr algn="ctr"/>
            <a:endParaRPr lang="en-US" dirty="0"/>
          </a:p>
          <a:p>
            <a:pPr algn="ctr"/>
            <a:r>
              <a:rPr lang="en-US" dirty="0"/>
              <a:t>Paste plot here</a:t>
            </a:r>
            <a:endParaRPr lang="pl-PL" dirty="0"/>
          </a:p>
          <a:p>
            <a:pPr algn="ctr"/>
            <a:endParaRPr lang="pl-PL" dirty="0"/>
          </a:p>
          <a:p>
            <a:pPr algn="ctr"/>
            <a:r>
              <a:rPr lang="pl-PL" sz="4000" b="1" i="1" dirty="0">
                <a:solidFill>
                  <a:srgbClr val="FF0000"/>
                </a:solidFill>
              </a:rPr>
              <a:t>NEXT SLIDES</a:t>
            </a:r>
            <a:endParaRPr lang="en-US" sz="4000" b="1" i="1" dirty="0">
              <a:solidFill>
                <a:srgbClr val="FF0000"/>
              </a:solidFill>
            </a:endParaRPr>
          </a:p>
        </p:txBody>
      </p:sp>
    </p:spTree>
    <p:extLst>
      <p:ext uri="{BB962C8B-B14F-4D97-AF65-F5344CB8AC3E}">
        <p14:creationId xmlns:p14="http://schemas.microsoft.com/office/powerpoint/2010/main" val="147571060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ymbol zastępczy stopki 3">
            <a:extLst>
              <a:ext uri="{FF2B5EF4-FFF2-40B4-BE49-F238E27FC236}">
                <a16:creationId xmlns:a16="http://schemas.microsoft.com/office/drawing/2014/main" id="{6651805F-C70C-08E1-30E9-ABD4C42D8E63}"/>
              </a:ext>
            </a:extLst>
          </p:cNvPr>
          <p:cNvSpPr>
            <a:spLocks noGrp="1"/>
          </p:cNvSpPr>
          <p:nvPr>
            <p:ph type="ftr" sz="quarter" idx="5"/>
          </p:nvPr>
        </p:nvSpPr>
        <p:spPr/>
        <p:txBody>
          <a:bodyPr/>
          <a:lstStyle/>
          <a:p>
            <a:pPr marL="12700">
              <a:spcBef>
                <a:spcPts val="15"/>
              </a:spcBef>
            </a:pPr>
            <a:r>
              <a:rPr lang="es-ES" spc="-5"/>
              <a:t>LAB 3.0. CIRCUITS &amp; COMPACT MODELS</a:t>
            </a:r>
            <a:endParaRPr lang="es-ES" spc="-5" dirty="0"/>
          </a:p>
        </p:txBody>
      </p:sp>
      <p:sp>
        <p:nvSpPr>
          <p:cNvPr id="5" name="Symbol zastępczy numeru slajdu 4">
            <a:extLst>
              <a:ext uri="{FF2B5EF4-FFF2-40B4-BE49-F238E27FC236}">
                <a16:creationId xmlns:a16="http://schemas.microsoft.com/office/drawing/2014/main" id="{66FBF6ED-1A83-2E96-EDA8-CA6F0C246AC8}"/>
              </a:ext>
            </a:extLst>
          </p:cNvPr>
          <p:cNvSpPr>
            <a:spLocks noGrp="1"/>
          </p:cNvSpPr>
          <p:nvPr>
            <p:ph type="sldNum" sz="quarter" idx="7"/>
          </p:nvPr>
        </p:nvSpPr>
        <p:spPr/>
        <p:txBody>
          <a:bodyPr/>
          <a:lstStyle/>
          <a:p>
            <a:fld id="{B6F15528-21DE-4FAA-801E-634DDDAF4B2B}" type="slidenum">
              <a:rPr lang="pl-PL" smtClean="0"/>
              <a:t>8</a:t>
            </a:fld>
            <a:endParaRPr lang="pl-PL"/>
          </a:p>
        </p:txBody>
      </p:sp>
      <p:pic>
        <p:nvPicPr>
          <p:cNvPr id="6" name="Obraz 5">
            <a:extLst>
              <a:ext uri="{FF2B5EF4-FFF2-40B4-BE49-F238E27FC236}">
                <a16:creationId xmlns:a16="http://schemas.microsoft.com/office/drawing/2014/main" id="{A5CEC312-9179-E29A-98B1-1107DDA16240}"/>
              </a:ext>
            </a:extLst>
          </p:cNvPr>
          <p:cNvPicPr>
            <a:picLocks noChangeAspect="1"/>
          </p:cNvPicPr>
          <p:nvPr/>
        </p:nvPicPr>
        <p:blipFill>
          <a:blip r:embed="rId2"/>
          <a:stretch>
            <a:fillRect/>
          </a:stretch>
        </p:blipFill>
        <p:spPr>
          <a:xfrm>
            <a:off x="109570" y="533400"/>
            <a:ext cx="6477128" cy="3450209"/>
          </a:xfrm>
          <a:prstGeom prst="rect">
            <a:avLst/>
          </a:prstGeom>
        </p:spPr>
      </p:pic>
      <p:pic>
        <p:nvPicPr>
          <p:cNvPr id="7" name="Obraz 6">
            <a:extLst>
              <a:ext uri="{FF2B5EF4-FFF2-40B4-BE49-F238E27FC236}">
                <a16:creationId xmlns:a16="http://schemas.microsoft.com/office/drawing/2014/main" id="{ABCD2D6A-F65E-0F6E-CB99-9FC6EF69D6A1}"/>
              </a:ext>
            </a:extLst>
          </p:cNvPr>
          <p:cNvPicPr>
            <a:picLocks noChangeAspect="1"/>
          </p:cNvPicPr>
          <p:nvPr/>
        </p:nvPicPr>
        <p:blipFill>
          <a:blip r:embed="rId3"/>
          <a:stretch>
            <a:fillRect/>
          </a:stretch>
        </p:blipFill>
        <p:spPr>
          <a:xfrm>
            <a:off x="5593218" y="3033850"/>
            <a:ext cx="6526534" cy="3515540"/>
          </a:xfrm>
          <a:prstGeom prst="rect">
            <a:avLst/>
          </a:prstGeom>
        </p:spPr>
      </p:pic>
      <p:sp>
        <p:nvSpPr>
          <p:cNvPr id="8" name="pole tekstowe 7">
            <a:extLst>
              <a:ext uri="{FF2B5EF4-FFF2-40B4-BE49-F238E27FC236}">
                <a16:creationId xmlns:a16="http://schemas.microsoft.com/office/drawing/2014/main" id="{66528B67-85E2-195C-0A32-4354090D0457}"/>
              </a:ext>
            </a:extLst>
          </p:cNvPr>
          <p:cNvSpPr txBox="1"/>
          <p:nvPr/>
        </p:nvSpPr>
        <p:spPr>
          <a:xfrm>
            <a:off x="1981200" y="3960282"/>
            <a:ext cx="829073" cy="369332"/>
          </a:xfrm>
          <a:prstGeom prst="rect">
            <a:avLst/>
          </a:prstGeom>
          <a:noFill/>
        </p:spPr>
        <p:txBody>
          <a:bodyPr wrap="none" rtlCol="0">
            <a:spAutoFit/>
          </a:bodyPr>
          <a:lstStyle/>
          <a:p>
            <a:r>
              <a:rPr lang="pl-PL" dirty="0"/>
              <a:t>CASE 1</a:t>
            </a:r>
          </a:p>
        </p:txBody>
      </p:sp>
      <p:sp>
        <p:nvSpPr>
          <p:cNvPr id="10" name="pole tekstowe 9">
            <a:extLst>
              <a:ext uri="{FF2B5EF4-FFF2-40B4-BE49-F238E27FC236}">
                <a16:creationId xmlns:a16="http://schemas.microsoft.com/office/drawing/2014/main" id="{1E95AC9C-4B7E-D59B-5AB3-B3650F37C460}"/>
              </a:ext>
            </a:extLst>
          </p:cNvPr>
          <p:cNvSpPr txBox="1"/>
          <p:nvPr/>
        </p:nvSpPr>
        <p:spPr>
          <a:xfrm>
            <a:off x="7772400" y="2677734"/>
            <a:ext cx="829073" cy="369332"/>
          </a:xfrm>
          <a:prstGeom prst="rect">
            <a:avLst/>
          </a:prstGeom>
          <a:noFill/>
        </p:spPr>
        <p:txBody>
          <a:bodyPr wrap="none" rtlCol="0">
            <a:spAutoFit/>
          </a:bodyPr>
          <a:lstStyle/>
          <a:p>
            <a:r>
              <a:rPr lang="pl-PL" dirty="0"/>
              <a:t>CASE 2</a:t>
            </a:r>
          </a:p>
        </p:txBody>
      </p:sp>
    </p:spTree>
    <p:extLst>
      <p:ext uri="{BB962C8B-B14F-4D97-AF65-F5344CB8AC3E}">
        <p14:creationId xmlns:p14="http://schemas.microsoft.com/office/powerpoint/2010/main" val="367490990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3BC1CB35-0722-370C-D204-120843E2CF5E}"/>
              </a:ext>
            </a:extLst>
          </p:cNvPr>
          <p:cNvSpPr>
            <a:spLocks noGrp="1"/>
          </p:cNvSpPr>
          <p:nvPr>
            <p:ph type="title"/>
          </p:nvPr>
        </p:nvSpPr>
        <p:spPr>
          <a:xfrm>
            <a:off x="590550" y="206752"/>
            <a:ext cx="10991850" cy="677108"/>
          </a:xfrm>
        </p:spPr>
        <p:txBody>
          <a:bodyPr/>
          <a:lstStyle/>
          <a:p>
            <a:r>
              <a:rPr lang="pl-PL" sz="4400" dirty="0"/>
              <a:t>LO.3</a:t>
            </a:r>
          </a:p>
        </p:txBody>
      </p:sp>
      <p:sp>
        <p:nvSpPr>
          <p:cNvPr id="3" name="Symbol zastępczy tekstu 2">
            <a:extLst>
              <a:ext uri="{FF2B5EF4-FFF2-40B4-BE49-F238E27FC236}">
                <a16:creationId xmlns:a16="http://schemas.microsoft.com/office/drawing/2014/main" id="{69168FAD-DB5F-3E2E-F8FD-CF3DF9246983}"/>
              </a:ext>
            </a:extLst>
          </p:cNvPr>
          <p:cNvSpPr>
            <a:spLocks noGrp="1"/>
          </p:cNvSpPr>
          <p:nvPr>
            <p:ph type="body" idx="1"/>
          </p:nvPr>
        </p:nvSpPr>
        <p:spPr>
          <a:xfrm>
            <a:off x="457200" y="1219200"/>
            <a:ext cx="10972800" cy="3877985"/>
          </a:xfrm>
        </p:spPr>
        <p:txBody>
          <a:bodyPr/>
          <a:lstStyle/>
          <a:p>
            <a:r>
              <a:rPr lang="en-US" dirty="0"/>
              <a:t>Comment results:</a:t>
            </a:r>
          </a:p>
          <a:p>
            <a:endParaRPr lang="en-US" dirty="0"/>
          </a:p>
          <a:p>
            <a:r>
              <a:rPr lang="en-US" dirty="0"/>
              <a:t>1. Transfer function </a:t>
            </a:r>
            <a:r>
              <a:rPr lang="pl-PL" dirty="0"/>
              <a:t>and</a:t>
            </a:r>
            <a:r>
              <a:rPr lang="en-US" dirty="0"/>
              <a:t> Interference pattern: </a:t>
            </a:r>
          </a:p>
          <a:p>
            <a:r>
              <a:rPr lang="en-US" dirty="0"/>
              <a:t>The transfer function shows very dense oscillations (a small FSR) due to the large length difference between the MZI arms. In both cases, the interference pattern is weak.</a:t>
            </a:r>
          </a:p>
          <a:p>
            <a:endParaRPr lang="en-US" dirty="0"/>
          </a:p>
          <a:p>
            <a:r>
              <a:rPr lang="en-US" dirty="0"/>
              <a:t>2. Difference between cases:</a:t>
            </a:r>
          </a:p>
          <a:p>
            <a:r>
              <a:rPr lang="en-US" dirty="0"/>
              <a:t>In Case 1 (Ka = 0.5), the light is split equally at the input, but the longer arm introduces high propagation losses (~22.4 dB). This causes a large power mismatch at the output. In Case 2 (Ka = 0.1), the input coupler routes 90% of the light into the short arm and only 10% into the long, lossy arm. This makes the final power imbalance even worse.</a:t>
            </a:r>
          </a:p>
          <a:p>
            <a:endParaRPr lang="en-US" dirty="0"/>
          </a:p>
          <a:p>
            <a:r>
              <a:rPr lang="en-US" dirty="0"/>
              <a:t>3. Extinction Ratio (ER) comparison:</a:t>
            </a:r>
          </a:p>
          <a:p>
            <a:r>
              <a:rPr lang="en-US" dirty="0"/>
              <a:t>Because of the power mismatch, the ER in Case 1 is very low (around 1.25 dB). Since Case 2 increases the power imbalance between the arms, its ER drops even further to approximately 0.4 </a:t>
            </a:r>
            <a:r>
              <a:rPr lang="en-US" dirty="0" err="1"/>
              <a:t>dB.</a:t>
            </a:r>
            <a:endParaRPr lang="pl-PL" dirty="0"/>
          </a:p>
        </p:txBody>
      </p:sp>
      <p:sp>
        <p:nvSpPr>
          <p:cNvPr id="4" name="Symbol zastępczy stopki 3">
            <a:extLst>
              <a:ext uri="{FF2B5EF4-FFF2-40B4-BE49-F238E27FC236}">
                <a16:creationId xmlns:a16="http://schemas.microsoft.com/office/drawing/2014/main" id="{A0648B4D-5F0B-2A86-26ED-0F684AA4A2BF}"/>
              </a:ext>
            </a:extLst>
          </p:cNvPr>
          <p:cNvSpPr>
            <a:spLocks noGrp="1"/>
          </p:cNvSpPr>
          <p:nvPr>
            <p:ph type="ftr" sz="quarter" idx="5"/>
          </p:nvPr>
        </p:nvSpPr>
        <p:spPr/>
        <p:txBody>
          <a:bodyPr/>
          <a:lstStyle/>
          <a:p>
            <a:pPr marL="12700">
              <a:spcBef>
                <a:spcPts val="15"/>
              </a:spcBef>
            </a:pPr>
            <a:r>
              <a:rPr lang="es-ES" spc="-5"/>
              <a:t>LAB 3.0. CIRCUITS &amp; COMPACT MODELS</a:t>
            </a:r>
            <a:endParaRPr lang="es-ES" spc="-5" dirty="0"/>
          </a:p>
        </p:txBody>
      </p:sp>
      <p:sp>
        <p:nvSpPr>
          <p:cNvPr id="5" name="Symbol zastępczy numeru slajdu 4">
            <a:extLst>
              <a:ext uri="{FF2B5EF4-FFF2-40B4-BE49-F238E27FC236}">
                <a16:creationId xmlns:a16="http://schemas.microsoft.com/office/drawing/2014/main" id="{78552F3B-4677-4310-DE6E-45803BF6B6D0}"/>
              </a:ext>
            </a:extLst>
          </p:cNvPr>
          <p:cNvSpPr>
            <a:spLocks noGrp="1"/>
          </p:cNvSpPr>
          <p:nvPr>
            <p:ph type="sldNum" sz="quarter" idx="7"/>
          </p:nvPr>
        </p:nvSpPr>
        <p:spPr/>
        <p:txBody>
          <a:bodyPr/>
          <a:lstStyle/>
          <a:p>
            <a:fld id="{B6F15528-21DE-4FAA-801E-634DDDAF4B2B}" type="slidenum">
              <a:rPr lang="pl-PL" smtClean="0"/>
              <a:t>9</a:t>
            </a:fld>
            <a:endParaRPr lang="pl-PL"/>
          </a:p>
        </p:txBody>
      </p:sp>
    </p:spTree>
    <p:extLst>
      <p:ext uri="{BB962C8B-B14F-4D97-AF65-F5344CB8AC3E}">
        <p14:creationId xmlns:p14="http://schemas.microsoft.com/office/powerpoint/2010/main" val="13867399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Marcador de pie de página 4">
            <a:extLst>
              <a:ext uri="{FF2B5EF4-FFF2-40B4-BE49-F238E27FC236}">
                <a16:creationId xmlns:a16="http://schemas.microsoft.com/office/drawing/2014/main" id="{F929251A-3DC4-36B2-3FB3-341378364BED}"/>
              </a:ext>
            </a:extLst>
          </p:cNvPr>
          <p:cNvSpPr>
            <a:spLocks noGrp="1"/>
          </p:cNvSpPr>
          <p:nvPr>
            <p:ph type="ftr" sz="quarter" idx="5"/>
          </p:nvPr>
        </p:nvSpPr>
        <p:spPr/>
        <p:txBody>
          <a:bodyPr/>
          <a:lstStyle/>
          <a:p>
            <a:r>
              <a:rPr lang="en-US"/>
              <a:t>LAB 3.0. CIRCUITS &amp; COMPACT MODELS</a:t>
            </a:r>
          </a:p>
        </p:txBody>
      </p:sp>
      <p:sp>
        <p:nvSpPr>
          <p:cNvPr id="6" name="Marcador de número de diapositiva 5">
            <a:extLst>
              <a:ext uri="{FF2B5EF4-FFF2-40B4-BE49-F238E27FC236}">
                <a16:creationId xmlns:a16="http://schemas.microsoft.com/office/drawing/2014/main" id="{8E91A34C-DF76-97CF-3EFD-546BC64A2184}"/>
              </a:ext>
            </a:extLst>
          </p:cNvPr>
          <p:cNvSpPr>
            <a:spLocks noGrp="1"/>
          </p:cNvSpPr>
          <p:nvPr>
            <p:ph type="sldNum" sz="quarter" idx="7"/>
          </p:nvPr>
        </p:nvSpPr>
        <p:spPr/>
        <p:txBody>
          <a:bodyPr/>
          <a:lstStyle/>
          <a:p>
            <a:fld id="{C2F52289-4012-4053-9770-FE82CEB9514F}" type="slidenum">
              <a:rPr lang="en-US" smtClean="0"/>
              <a:pPr/>
              <a:t>10</a:t>
            </a:fld>
            <a:endParaRPr lang="en-US" dirty="0"/>
          </a:p>
        </p:txBody>
      </p:sp>
      <p:sp>
        <p:nvSpPr>
          <p:cNvPr id="8" name="CuadroTexto 7">
            <a:extLst>
              <a:ext uri="{FF2B5EF4-FFF2-40B4-BE49-F238E27FC236}">
                <a16:creationId xmlns:a16="http://schemas.microsoft.com/office/drawing/2014/main" id="{D9601617-351E-AE1A-1F4D-693F2EA59361}"/>
              </a:ext>
            </a:extLst>
          </p:cNvPr>
          <p:cNvSpPr txBox="1"/>
          <p:nvPr/>
        </p:nvSpPr>
        <p:spPr>
          <a:xfrm>
            <a:off x="608045" y="4083594"/>
            <a:ext cx="11199530" cy="2123658"/>
          </a:xfrm>
          <a:prstGeom prst="rect">
            <a:avLst/>
          </a:prstGeom>
          <a:solidFill>
            <a:schemeClr val="bg1">
              <a:lumMod val="95000"/>
            </a:schemeClr>
          </a:solidFill>
          <a:ln w="28575">
            <a:solidFill>
              <a:srgbClr val="E0700D"/>
            </a:solidFill>
          </a:ln>
        </p:spPr>
        <p:txBody>
          <a:bodyPr wrap="square" rtlCol="0">
            <a:spAutoFit/>
          </a:bodyPr>
          <a:lstStyle/>
          <a:p>
            <a:pPr algn="just"/>
            <a:r>
              <a:rPr lang="en-US" sz="1200" b="1" dirty="0">
                <a:latin typeface="Arial" panose="020B0604020202020204" pitchFamily="34" charset="0"/>
                <a:cs typeface="Arial" panose="020B0604020202020204" pitchFamily="34" charset="0"/>
              </a:rPr>
              <a:t>Comment results: describer the transfer functions. which is the FSR? How is it related to the ring perimeter? </a:t>
            </a:r>
            <a:endParaRPr lang="pl-PL" sz="1200" b="1" dirty="0">
              <a:latin typeface="Arial" panose="020B0604020202020204" pitchFamily="34" charset="0"/>
              <a:cs typeface="Arial" panose="020B0604020202020204" pitchFamily="34" charset="0"/>
            </a:endParaRPr>
          </a:p>
          <a:p>
            <a:pPr algn="just"/>
            <a:r>
              <a:rPr lang="en-US" sz="1200" i="1" dirty="0">
                <a:latin typeface="Arial" panose="020B0604020202020204" pitchFamily="34" charset="0"/>
                <a:cs typeface="Arial" panose="020B0604020202020204" pitchFamily="34" charset="0"/>
              </a:rPr>
              <a:t>The single ring transfer function stays near 1 for most wavelengths but has sharp periodic drops called resonances. At these exact wavelengths, light couples into the ring, gets trapped, and is lost, which makes deep dips on the dB scale. The FSR is just the distance between two peaks or dips next to each other, and it depends on the ring size. If the ring perimeter is bigger, the FSR gets smaller, meaning the resonances are closer together on the graph.</a:t>
            </a:r>
            <a:endParaRPr lang="en-US" sz="1200" dirty="0">
              <a:latin typeface="Arial" panose="020B0604020202020204" pitchFamily="34" charset="0"/>
              <a:cs typeface="Arial" panose="020B0604020202020204" pitchFamily="34" charset="0"/>
            </a:endParaRPr>
          </a:p>
          <a:p>
            <a:pPr algn="just"/>
            <a:r>
              <a:rPr lang="en-US" sz="1200" b="1" dirty="0">
                <a:latin typeface="Arial" panose="020B0604020202020204" pitchFamily="34" charset="0"/>
                <a:cs typeface="Arial" panose="020B0604020202020204" pitchFamily="34" charset="0"/>
              </a:rPr>
              <a:t>Show a numeric calculation of the FSR and length difference matching the results in the graph,</a:t>
            </a:r>
          </a:p>
          <a:p>
            <a:pPr algn="just"/>
            <a:r>
              <a:rPr lang="en-US" sz="1200" dirty="0">
                <a:latin typeface="Arial" panose="020B0604020202020204" pitchFamily="34" charset="0"/>
                <a:cs typeface="Arial" panose="020B0604020202020204" pitchFamily="34" charset="0"/>
              </a:rPr>
              <a:t>Formula: FSR = lambda^2 / (</a:t>
            </a:r>
            <a:r>
              <a:rPr lang="en-US" sz="1200" dirty="0" err="1">
                <a:latin typeface="Arial" panose="020B0604020202020204" pitchFamily="34" charset="0"/>
                <a:cs typeface="Arial" panose="020B0604020202020204" pitchFamily="34" charset="0"/>
              </a:rPr>
              <a:t>n_g</a:t>
            </a:r>
            <a:r>
              <a:rPr lang="en-US" sz="1200" dirty="0">
                <a:latin typeface="Arial" panose="020B0604020202020204" pitchFamily="34" charset="0"/>
                <a:cs typeface="Arial" panose="020B0604020202020204" pitchFamily="34" charset="0"/>
              </a:rPr>
              <a:t> * L)</a:t>
            </a:r>
          </a:p>
          <a:p>
            <a:pPr algn="just"/>
            <a:r>
              <a:rPr lang="en-US" sz="1200" dirty="0">
                <a:latin typeface="Arial" panose="020B0604020202020204" pitchFamily="34" charset="0"/>
                <a:cs typeface="Arial" panose="020B0604020202020204" pitchFamily="34" charset="0"/>
              </a:rPr>
              <a:t>Values: lambda = 1.55 um, </a:t>
            </a:r>
            <a:r>
              <a:rPr lang="en-US" sz="1200" dirty="0" err="1">
                <a:latin typeface="Arial" panose="020B0604020202020204" pitchFamily="34" charset="0"/>
                <a:cs typeface="Arial" panose="020B0604020202020204" pitchFamily="34" charset="0"/>
              </a:rPr>
              <a:t>n_g</a:t>
            </a:r>
            <a:r>
              <a:rPr lang="en-US" sz="1200" dirty="0">
                <a:latin typeface="Arial" panose="020B0604020202020204" pitchFamily="34" charset="0"/>
                <a:cs typeface="Arial" panose="020B0604020202020204" pitchFamily="34" charset="0"/>
              </a:rPr>
              <a:t> = 2.0, L = 50 um</a:t>
            </a:r>
          </a:p>
          <a:p>
            <a:pPr algn="just"/>
            <a:r>
              <a:rPr lang="en-US" sz="1200" dirty="0">
                <a:latin typeface="Arial" panose="020B0604020202020204" pitchFamily="34" charset="0"/>
                <a:cs typeface="Arial" panose="020B0604020202020204" pitchFamily="34" charset="0"/>
              </a:rPr>
              <a:t>Math:</a:t>
            </a:r>
          </a:p>
          <a:p>
            <a:pPr algn="just"/>
            <a:r>
              <a:rPr lang="en-US" sz="1200" dirty="0">
                <a:latin typeface="Arial" panose="020B0604020202020204" pitchFamily="34" charset="0"/>
                <a:cs typeface="Arial" panose="020B0604020202020204" pitchFamily="34" charset="0"/>
              </a:rPr>
              <a:t>FSR = (1.55 um)^2 / (2.0 * 50 um) = 2.4025 / 100 = 0.024025 um = 24.025 nm</a:t>
            </a:r>
          </a:p>
          <a:p>
            <a:pPr algn="just"/>
            <a:r>
              <a:rPr lang="en-US" sz="1200" dirty="0">
                <a:latin typeface="Arial" panose="020B0604020202020204" pitchFamily="34" charset="0"/>
                <a:cs typeface="Arial" panose="020B0604020202020204" pitchFamily="34" charset="0"/>
              </a:rPr>
              <a:t>The calculated FSR of ~24 nm perfectly matches the graph</a:t>
            </a:r>
            <a:r>
              <a:rPr lang="pl-PL" sz="1200" dirty="0">
                <a:latin typeface="Arial" panose="020B0604020202020204" pitchFamily="34" charset="0"/>
                <a:cs typeface="Arial" panose="020B0604020202020204" pitchFamily="34" charset="0"/>
              </a:rPr>
              <a:t>.</a:t>
            </a:r>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p:txBody>
      </p:sp>
      <p:sp>
        <p:nvSpPr>
          <p:cNvPr id="11" name="Rectángulo 10">
            <a:extLst>
              <a:ext uri="{FF2B5EF4-FFF2-40B4-BE49-F238E27FC236}">
                <a16:creationId xmlns:a16="http://schemas.microsoft.com/office/drawing/2014/main" id="{B811A5F9-C0B5-716C-70FB-9472E1BC2CD3}"/>
              </a:ext>
            </a:extLst>
          </p:cNvPr>
          <p:cNvSpPr/>
          <p:nvPr/>
        </p:nvSpPr>
        <p:spPr>
          <a:xfrm>
            <a:off x="611030" y="1418373"/>
            <a:ext cx="3810000" cy="2424827"/>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CuadroTexto 11">
            <a:extLst>
              <a:ext uri="{FF2B5EF4-FFF2-40B4-BE49-F238E27FC236}">
                <a16:creationId xmlns:a16="http://schemas.microsoft.com/office/drawing/2014/main" id="{1D17C364-5A66-F740-B152-8B41A2A4EF26}"/>
              </a:ext>
            </a:extLst>
          </p:cNvPr>
          <p:cNvSpPr txBox="1"/>
          <p:nvPr/>
        </p:nvSpPr>
        <p:spPr>
          <a:xfrm>
            <a:off x="5536543" y="2494307"/>
            <a:ext cx="2033313" cy="1323439"/>
          </a:xfrm>
          <a:prstGeom prst="rect">
            <a:avLst/>
          </a:prstGeom>
          <a:noFill/>
        </p:spPr>
        <p:txBody>
          <a:bodyPr wrap="none" rtlCol="0">
            <a:spAutoFit/>
          </a:bodyPr>
          <a:lstStyle/>
          <a:p>
            <a:pPr algn="ctr"/>
            <a:r>
              <a:rPr lang="es-ES" sz="2000" dirty="0"/>
              <a:t>Single ring</a:t>
            </a:r>
          </a:p>
          <a:p>
            <a:pPr algn="ctr"/>
            <a:r>
              <a:rPr lang="es-ES" sz="2000" dirty="0"/>
              <a:t>transfer </a:t>
            </a:r>
            <a:r>
              <a:rPr lang="es-ES" sz="2000" dirty="0" err="1"/>
              <a:t>functions</a:t>
            </a:r>
            <a:endParaRPr lang="es-ES" sz="2000" dirty="0"/>
          </a:p>
          <a:p>
            <a:pPr algn="ctr"/>
            <a:endParaRPr lang="es-ES" sz="2000" dirty="0"/>
          </a:p>
          <a:p>
            <a:pPr algn="ctr"/>
            <a:r>
              <a:rPr lang="es-ES" sz="2000" dirty="0" err="1"/>
              <a:t>Logaritmic</a:t>
            </a:r>
            <a:r>
              <a:rPr lang="es-ES" sz="2000" dirty="0"/>
              <a:t> </a:t>
            </a:r>
            <a:r>
              <a:rPr lang="es-ES" sz="2000" dirty="0" err="1"/>
              <a:t>units</a:t>
            </a:r>
            <a:endParaRPr lang="en-US" sz="2000" dirty="0"/>
          </a:p>
        </p:txBody>
      </p:sp>
      <p:sp>
        <p:nvSpPr>
          <p:cNvPr id="3" name="Rectángulo 2">
            <a:extLst>
              <a:ext uri="{FF2B5EF4-FFF2-40B4-BE49-F238E27FC236}">
                <a16:creationId xmlns:a16="http://schemas.microsoft.com/office/drawing/2014/main" id="{5FB43DF1-4048-35BF-BD58-4BF2A341D2EF}"/>
              </a:ext>
            </a:extLst>
          </p:cNvPr>
          <p:cNvSpPr/>
          <p:nvPr/>
        </p:nvSpPr>
        <p:spPr>
          <a:xfrm>
            <a:off x="8610601" y="1418373"/>
            <a:ext cx="3199959" cy="2424827"/>
          </a:xfrm>
          <a:prstGeom prst="rect">
            <a:avLst/>
          </a:prstGeom>
          <a:solidFill>
            <a:schemeClr val="bg1">
              <a:lumMod val="95000"/>
            </a:schemeClr>
          </a:solid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t" anchorCtr="0"/>
          <a:lstStyle/>
          <a:p>
            <a:pPr algn="just"/>
            <a:r>
              <a:rPr lang="en-US" sz="1200" b="1" dirty="0">
                <a:solidFill>
                  <a:schemeClr val="tx1"/>
                </a:solidFill>
                <a:latin typeface="Arial" panose="020B0604020202020204" pitchFamily="34" charset="0"/>
                <a:cs typeface="Arial" panose="020B0604020202020204" pitchFamily="34" charset="0"/>
              </a:rPr>
              <a:t>Hints:</a:t>
            </a:r>
          </a:p>
          <a:p>
            <a:pPr algn="just"/>
            <a:endParaRPr lang="en-US" sz="1200" b="1" dirty="0">
              <a:solidFill>
                <a:schemeClr val="tx1"/>
              </a:solidFill>
              <a:latin typeface="Arial" panose="020B0604020202020204" pitchFamily="34" charset="0"/>
              <a:cs typeface="Arial" panose="020B0604020202020204" pitchFamily="34" charset="0"/>
            </a:endParaRPr>
          </a:p>
          <a:p>
            <a:pPr algn="just"/>
            <a:r>
              <a:rPr lang="en-US" sz="1200" dirty="0">
                <a:solidFill>
                  <a:schemeClr val="tx1"/>
                </a:solidFill>
                <a:latin typeface="Arial" panose="020B0604020202020204" pitchFamily="34" charset="0"/>
                <a:cs typeface="Arial" panose="020B0604020202020204" pitchFamily="34" charset="0"/>
              </a:rPr>
              <a:t>None </a:t>
            </a:r>
            <a:r>
              <a:rPr lang="en-US" sz="1200" dirty="0">
                <a:solidFill>
                  <a:schemeClr val="tx1"/>
                </a:solidFill>
                <a:latin typeface="Arial" panose="020B0604020202020204" pitchFamily="34" charset="0"/>
                <a:cs typeface="Arial" panose="020B0604020202020204" pitchFamily="34" charset="0"/>
                <a:sym typeface="Wingdings" pitchFamily="2" charset="2"/>
              </a:rPr>
              <a:t> </a:t>
            </a:r>
            <a:endParaRPr lang="en-US" sz="1200" dirty="0">
              <a:solidFill>
                <a:schemeClr val="tx1"/>
              </a:solidFill>
              <a:latin typeface="Arial" panose="020B0604020202020204" pitchFamily="34" charset="0"/>
              <a:cs typeface="Arial" panose="020B0604020202020204" pitchFamily="34" charset="0"/>
            </a:endParaRPr>
          </a:p>
          <a:p>
            <a:pPr algn="just"/>
            <a:endParaRPr lang="en-US" sz="1200" dirty="0">
              <a:solidFill>
                <a:schemeClr val="tx1"/>
              </a:solidFill>
              <a:latin typeface="Arial" panose="020B0604020202020204" pitchFamily="34" charset="0"/>
              <a:cs typeface="Arial" panose="020B0604020202020204" pitchFamily="34" charset="0"/>
            </a:endParaRPr>
          </a:p>
          <a:p>
            <a:pPr algn="just"/>
            <a:endParaRPr lang="en-US" sz="1200" dirty="0">
              <a:solidFill>
                <a:schemeClr val="tx1"/>
              </a:solidFill>
              <a:latin typeface="Arial" panose="020B0604020202020204" pitchFamily="34" charset="0"/>
              <a:cs typeface="Arial" panose="020B0604020202020204" pitchFamily="34" charset="0"/>
            </a:endParaRPr>
          </a:p>
        </p:txBody>
      </p:sp>
      <p:sp>
        <p:nvSpPr>
          <p:cNvPr id="14" name="Rectángulo 13">
            <a:extLst>
              <a:ext uri="{FF2B5EF4-FFF2-40B4-BE49-F238E27FC236}">
                <a16:creationId xmlns:a16="http://schemas.microsoft.com/office/drawing/2014/main" id="{6AA857E7-5C39-DCE1-10B5-40300FCF4B26}"/>
              </a:ext>
            </a:extLst>
          </p:cNvPr>
          <p:cNvSpPr/>
          <p:nvPr/>
        </p:nvSpPr>
        <p:spPr>
          <a:xfrm>
            <a:off x="4648200" y="1418373"/>
            <a:ext cx="3810000" cy="2424827"/>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CuadroTexto 14">
            <a:extLst>
              <a:ext uri="{FF2B5EF4-FFF2-40B4-BE49-F238E27FC236}">
                <a16:creationId xmlns:a16="http://schemas.microsoft.com/office/drawing/2014/main" id="{54CF28B4-1346-F41D-2CD8-EA104ABBFB98}"/>
              </a:ext>
            </a:extLst>
          </p:cNvPr>
          <p:cNvSpPr txBox="1"/>
          <p:nvPr/>
        </p:nvSpPr>
        <p:spPr>
          <a:xfrm>
            <a:off x="1499379" y="2478160"/>
            <a:ext cx="2033313" cy="1323439"/>
          </a:xfrm>
          <a:prstGeom prst="rect">
            <a:avLst/>
          </a:prstGeom>
          <a:noFill/>
        </p:spPr>
        <p:txBody>
          <a:bodyPr wrap="none" rtlCol="0">
            <a:spAutoFit/>
          </a:bodyPr>
          <a:lstStyle/>
          <a:p>
            <a:pPr algn="ctr"/>
            <a:r>
              <a:rPr lang="es-ES" sz="2000" dirty="0"/>
              <a:t>Single ring</a:t>
            </a:r>
          </a:p>
          <a:p>
            <a:pPr algn="ctr"/>
            <a:r>
              <a:rPr lang="es-ES" sz="2000" dirty="0"/>
              <a:t>transfer </a:t>
            </a:r>
            <a:r>
              <a:rPr lang="es-ES" sz="2000" dirty="0" err="1"/>
              <a:t>functions</a:t>
            </a:r>
            <a:endParaRPr lang="es-ES" sz="2000" dirty="0"/>
          </a:p>
          <a:p>
            <a:pPr algn="ctr"/>
            <a:endParaRPr lang="es-ES" sz="2000" dirty="0"/>
          </a:p>
          <a:p>
            <a:pPr algn="ctr"/>
            <a:r>
              <a:rPr lang="es-ES" sz="2000" dirty="0"/>
              <a:t>Linear </a:t>
            </a:r>
            <a:r>
              <a:rPr lang="es-ES" sz="2000" dirty="0" err="1"/>
              <a:t>units</a:t>
            </a:r>
            <a:endParaRPr lang="en-US" sz="2000" dirty="0"/>
          </a:p>
        </p:txBody>
      </p:sp>
      <p:pic>
        <p:nvPicPr>
          <p:cNvPr id="9" name="Gráfico 8">
            <a:extLst>
              <a:ext uri="{FF2B5EF4-FFF2-40B4-BE49-F238E27FC236}">
                <a16:creationId xmlns:a16="http://schemas.microsoft.com/office/drawing/2014/main" id="{83C716FC-7070-6DA5-E116-195D4CD9BDB4}"/>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5045006" y="6356057"/>
            <a:ext cx="6409575" cy="363174"/>
          </a:xfrm>
          <a:prstGeom prst="rect">
            <a:avLst/>
          </a:prstGeom>
        </p:spPr>
      </p:pic>
      <p:sp>
        <p:nvSpPr>
          <p:cNvPr id="10" name="object 16">
            <a:extLst>
              <a:ext uri="{FF2B5EF4-FFF2-40B4-BE49-F238E27FC236}">
                <a16:creationId xmlns:a16="http://schemas.microsoft.com/office/drawing/2014/main" id="{C319E249-48A9-70AD-7ACE-23CF9ABF6137}"/>
              </a:ext>
            </a:extLst>
          </p:cNvPr>
          <p:cNvSpPr txBox="1">
            <a:spLocks/>
          </p:cNvSpPr>
          <p:nvPr/>
        </p:nvSpPr>
        <p:spPr>
          <a:xfrm>
            <a:off x="685800" y="408883"/>
            <a:ext cx="10994410" cy="718145"/>
          </a:xfrm>
          <a:prstGeom prst="rect">
            <a:avLst/>
          </a:prstGeom>
        </p:spPr>
        <p:txBody>
          <a:bodyPr vert="horz" wrap="square" lIns="0" tIns="12700" rIns="0" bIns="0" rtlCol="0">
            <a:spAutoFit/>
          </a:bodyPr>
          <a:lstStyle>
            <a:lvl1pPr>
              <a:defRPr sz="2000" b="1" i="0">
                <a:solidFill>
                  <a:schemeClr val="tx1"/>
                </a:solidFill>
                <a:latin typeface="Calibri"/>
                <a:ea typeface="+mj-ea"/>
                <a:cs typeface="Calibri"/>
              </a:defRPr>
            </a:lvl1pPr>
          </a:lstStyle>
          <a:p>
            <a:pPr marL="12700">
              <a:spcBef>
                <a:spcPts val="100"/>
              </a:spcBef>
            </a:pPr>
            <a:r>
              <a:rPr lang="en-US" sz="2500" kern="0" dirty="0"/>
              <a:t>Learning outcome #4 – Ring Resonator</a:t>
            </a:r>
          </a:p>
          <a:p>
            <a:pPr marL="12700">
              <a:spcBef>
                <a:spcPts val="100"/>
              </a:spcBef>
            </a:pPr>
            <a:r>
              <a:rPr lang="en-US" b="0" kern="0" spc="-5" dirty="0">
                <a:latin typeface="+mj-lt"/>
                <a:cs typeface="Lucida Sans"/>
              </a:rPr>
              <a:t>Single ring resonator – most simple case Constant coupler K (no wavelength variation)</a:t>
            </a:r>
          </a:p>
        </p:txBody>
      </p:sp>
      <p:pic>
        <p:nvPicPr>
          <p:cNvPr id="2" name="Obraz 1">
            <a:extLst>
              <a:ext uri="{FF2B5EF4-FFF2-40B4-BE49-F238E27FC236}">
                <a16:creationId xmlns:a16="http://schemas.microsoft.com/office/drawing/2014/main" id="{6FAA9F6C-A802-C2DA-7B05-68358453136A}"/>
              </a:ext>
            </a:extLst>
          </p:cNvPr>
          <p:cNvPicPr>
            <a:picLocks noChangeAspect="1"/>
          </p:cNvPicPr>
          <p:nvPr/>
        </p:nvPicPr>
        <p:blipFill>
          <a:blip r:embed="rId3"/>
          <a:stretch>
            <a:fillRect/>
          </a:stretch>
        </p:blipFill>
        <p:spPr>
          <a:xfrm>
            <a:off x="609600" y="2081767"/>
            <a:ext cx="3810001" cy="1659118"/>
          </a:xfrm>
          <a:prstGeom prst="rect">
            <a:avLst/>
          </a:prstGeom>
        </p:spPr>
      </p:pic>
      <p:pic>
        <p:nvPicPr>
          <p:cNvPr id="4" name="Obraz 3">
            <a:extLst>
              <a:ext uri="{FF2B5EF4-FFF2-40B4-BE49-F238E27FC236}">
                <a16:creationId xmlns:a16="http://schemas.microsoft.com/office/drawing/2014/main" id="{A5DCF212-BBBE-0254-A36B-8734EFA81CC9}"/>
              </a:ext>
            </a:extLst>
          </p:cNvPr>
          <p:cNvPicPr>
            <a:picLocks noChangeAspect="1"/>
          </p:cNvPicPr>
          <p:nvPr/>
        </p:nvPicPr>
        <p:blipFill>
          <a:blip r:embed="rId4"/>
          <a:stretch>
            <a:fillRect/>
          </a:stretch>
        </p:blipFill>
        <p:spPr>
          <a:xfrm>
            <a:off x="4648199" y="2165345"/>
            <a:ext cx="3810001" cy="1572430"/>
          </a:xfrm>
          <a:prstGeom prst="rect">
            <a:avLst/>
          </a:prstGeom>
        </p:spPr>
      </p:pic>
    </p:spTree>
    <p:extLst>
      <p:ext uri="{BB962C8B-B14F-4D97-AF65-F5344CB8AC3E}">
        <p14:creationId xmlns:p14="http://schemas.microsoft.com/office/powerpoint/2010/main" val="54318454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0CA2DF-810F-7BDA-CFF3-0CFEE760301A}"/>
            </a:ext>
          </a:extLst>
        </p:cNvPr>
        <p:cNvGrpSpPr/>
        <p:nvPr/>
      </p:nvGrpSpPr>
      <p:grpSpPr>
        <a:xfrm>
          <a:off x="0" y="0"/>
          <a:ext cx="0" cy="0"/>
          <a:chOff x="0" y="0"/>
          <a:chExt cx="0" cy="0"/>
        </a:xfrm>
      </p:grpSpPr>
      <p:sp>
        <p:nvSpPr>
          <p:cNvPr id="5" name="Marcador de pie de página 4">
            <a:extLst>
              <a:ext uri="{FF2B5EF4-FFF2-40B4-BE49-F238E27FC236}">
                <a16:creationId xmlns:a16="http://schemas.microsoft.com/office/drawing/2014/main" id="{4915C280-A84A-95DA-94D2-FE062C8ED61F}"/>
              </a:ext>
            </a:extLst>
          </p:cNvPr>
          <p:cNvSpPr>
            <a:spLocks noGrp="1"/>
          </p:cNvSpPr>
          <p:nvPr>
            <p:ph type="ftr" sz="quarter" idx="5"/>
          </p:nvPr>
        </p:nvSpPr>
        <p:spPr/>
        <p:txBody>
          <a:bodyPr/>
          <a:lstStyle/>
          <a:p>
            <a:r>
              <a:rPr lang="en-US"/>
              <a:t>LAB 3.0. CIRCUITS &amp; COMPACT MODELS</a:t>
            </a:r>
          </a:p>
        </p:txBody>
      </p:sp>
      <p:sp>
        <p:nvSpPr>
          <p:cNvPr id="6" name="Marcador de número de diapositiva 5">
            <a:extLst>
              <a:ext uri="{FF2B5EF4-FFF2-40B4-BE49-F238E27FC236}">
                <a16:creationId xmlns:a16="http://schemas.microsoft.com/office/drawing/2014/main" id="{E919F9EF-02D5-71FC-C2BC-F8EC5B26723E}"/>
              </a:ext>
            </a:extLst>
          </p:cNvPr>
          <p:cNvSpPr>
            <a:spLocks noGrp="1"/>
          </p:cNvSpPr>
          <p:nvPr>
            <p:ph type="sldNum" sz="quarter" idx="7"/>
          </p:nvPr>
        </p:nvSpPr>
        <p:spPr/>
        <p:txBody>
          <a:bodyPr/>
          <a:lstStyle/>
          <a:p>
            <a:fld id="{C2F52289-4012-4053-9770-FE82CEB9514F}" type="slidenum">
              <a:rPr lang="en-US" smtClean="0"/>
              <a:pPr/>
              <a:t>11</a:t>
            </a:fld>
            <a:endParaRPr lang="en-US" dirty="0"/>
          </a:p>
        </p:txBody>
      </p:sp>
      <p:sp>
        <p:nvSpPr>
          <p:cNvPr id="8" name="CuadroTexto 7">
            <a:extLst>
              <a:ext uri="{FF2B5EF4-FFF2-40B4-BE49-F238E27FC236}">
                <a16:creationId xmlns:a16="http://schemas.microsoft.com/office/drawing/2014/main" id="{3BC6D2B9-07F5-E2FA-C9AD-029B63B098DA}"/>
              </a:ext>
            </a:extLst>
          </p:cNvPr>
          <p:cNvSpPr txBox="1"/>
          <p:nvPr/>
        </p:nvSpPr>
        <p:spPr>
          <a:xfrm>
            <a:off x="611029" y="4860335"/>
            <a:ext cx="11199530" cy="1446550"/>
          </a:xfrm>
          <a:prstGeom prst="rect">
            <a:avLst/>
          </a:prstGeom>
          <a:solidFill>
            <a:schemeClr val="bg1">
              <a:lumMod val="95000"/>
            </a:schemeClr>
          </a:solidFill>
          <a:ln w="28575">
            <a:solidFill>
              <a:srgbClr val="E0700D"/>
            </a:solidFill>
          </a:ln>
        </p:spPr>
        <p:txBody>
          <a:bodyPr wrap="square" rtlCol="0">
            <a:spAutoFit/>
          </a:bodyPr>
          <a:lstStyle/>
          <a:p>
            <a:pPr algn="just"/>
            <a:r>
              <a:rPr lang="en-US" sz="1200" dirty="0">
                <a:latin typeface="Arial" panose="020B0604020202020204" pitchFamily="34" charset="0"/>
                <a:cs typeface="Arial" panose="020B0604020202020204" pitchFamily="34" charset="0"/>
              </a:rPr>
              <a:t>Comment results: describer the transfer function. How’s the dependence on the coupler coefficient? Calculate the Extinction Ratio. How would you achieve critical coupling for the latter design? Justify your answers.</a:t>
            </a:r>
          </a:p>
          <a:p>
            <a:pPr algn="just"/>
            <a:endParaRPr lang="en-US" sz="1200" dirty="0">
              <a:latin typeface="Arial" panose="020B0604020202020204" pitchFamily="34" charset="0"/>
              <a:cs typeface="Arial" panose="020B0604020202020204" pitchFamily="34" charset="0"/>
            </a:endParaRPr>
          </a:p>
          <a:p>
            <a:pPr algn="just"/>
            <a:r>
              <a:rPr lang="pl-PL" sz="2800" i="1" dirty="0">
                <a:solidFill>
                  <a:srgbClr val="FF0000"/>
                </a:solidFill>
                <a:latin typeface="Arial" panose="020B0604020202020204" pitchFamily="34" charset="0"/>
                <a:cs typeface="Arial" panose="020B0604020202020204" pitchFamily="34" charset="0"/>
              </a:rPr>
              <a:t>NEXT SLIDE</a:t>
            </a:r>
            <a:endParaRPr lang="en-US" sz="2800" i="1" dirty="0">
              <a:solidFill>
                <a:srgbClr val="FF0000"/>
              </a:solidFill>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a:p>
            <a:pPr algn="just"/>
            <a:r>
              <a:rPr lang="en-US" sz="1200" dirty="0">
                <a:latin typeface="Arial" panose="020B0604020202020204" pitchFamily="34" charset="0"/>
                <a:cs typeface="Arial" panose="020B0604020202020204" pitchFamily="34" charset="0"/>
              </a:rPr>
              <a:t> </a:t>
            </a:r>
          </a:p>
        </p:txBody>
      </p:sp>
      <p:sp>
        <p:nvSpPr>
          <p:cNvPr id="3" name="Rectángulo 2">
            <a:extLst>
              <a:ext uri="{FF2B5EF4-FFF2-40B4-BE49-F238E27FC236}">
                <a16:creationId xmlns:a16="http://schemas.microsoft.com/office/drawing/2014/main" id="{E54DA3AC-DFE0-BB51-7C71-7CD9087359D0}"/>
              </a:ext>
            </a:extLst>
          </p:cNvPr>
          <p:cNvSpPr/>
          <p:nvPr/>
        </p:nvSpPr>
        <p:spPr>
          <a:xfrm>
            <a:off x="8610601" y="1418373"/>
            <a:ext cx="3199959" cy="3306028"/>
          </a:xfrm>
          <a:prstGeom prst="rect">
            <a:avLst/>
          </a:prstGeom>
          <a:solidFill>
            <a:schemeClr val="bg1">
              <a:lumMod val="95000"/>
            </a:schemeClr>
          </a:solid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t" anchorCtr="0"/>
          <a:lstStyle/>
          <a:p>
            <a:pPr algn="just"/>
            <a:r>
              <a:rPr lang="en-US" sz="1200" b="1" dirty="0">
                <a:solidFill>
                  <a:schemeClr val="tx1"/>
                </a:solidFill>
                <a:latin typeface="Arial" panose="020B0604020202020204" pitchFamily="34" charset="0"/>
                <a:cs typeface="Arial" panose="020B0604020202020204" pitchFamily="34" charset="0"/>
              </a:rPr>
              <a:t>Hints:</a:t>
            </a:r>
            <a:endParaRPr lang="en-US" sz="1200" dirty="0">
              <a:solidFill>
                <a:schemeClr val="tx1"/>
              </a:solidFill>
              <a:latin typeface="Arial" panose="020B0604020202020204" pitchFamily="34" charset="0"/>
              <a:cs typeface="Arial" panose="020B0604020202020204" pitchFamily="34" charset="0"/>
            </a:endParaRPr>
          </a:p>
          <a:p>
            <a:pPr algn="just"/>
            <a:endParaRPr lang="en-US" sz="1200" dirty="0">
              <a:solidFill>
                <a:schemeClr val="tx1"/>
              </a:solidFill>
              <a:latin typeface="Arial" panose="020B0604020202020204" pitchFamily="34" charset="0"/>
              <a:cs typeface="Arial" panose="020B0604020202020204" pitchFamily="34" charset="0"/>
            </a:endParaRPr>
          </a:p>
          <a:p>
            <a:pPr algn="just"/>
            <a:r>
              <a:rPr lang="en-US" sz="1200" dirty="0">
                <a:solidFill>
                  <a:schemeClr val="tx1"/>
                </a:solidFill>
                <a:latin typeface="Arial" panose="020B0604020202020204" pitchFamily="34" charset="0"/>
                <a:cs typeface="Arial" panose="020B0604020202020204" pitchFamily="34" charset="0"/>
              </a:rPr>
              <a:t>Design the perimeter for a FSR = 15 nm. </a:t>
            </a:r>
          </a:p>
          <a:p>
            <a:pPr algn="just"/>
            <a:endParaRPr lang="en-US" sz="1200" dirty="0">
              <a:solidFill>
                <a:schemeClr val="tx1"/>
              </a:solidFill>
              <a:latin typeface="Arial" panose="020B0604020202020204" pitchFamily="34" charset="0"/>
              <a:cs typeface="Arial" panose="020B0604020202020204" pitchFamily="34" charset="0"/>
            </a:endParaRPr>
          </a:p>
          <a:p>
            <a:pPr algn="just"/>
            <a:r>
              <a:rPr lang="en-US" sz="1200" dirty="0">
                <a:solidFill>
                  <a:schemeClr val="tx1"/>
                </a:solidFill>
                <a:latin typeface="Arial" panose="020B0604020202020204" pitchFamily="34" charset="0"/>
                <a:cs typeface="Arial" panose="020B0604020202020204" pitchFamily="34" charset="0"/>
              </a:rPr>
              <a:t>Use equations given in class that relate FSR and perimeter.</a:t>
            </a:r>
          </a:p>
          <a:p>
            <a:pPr algn="just"/>
            <a:endParaRPr lang="en-US" sz="1200" dirty="0">
              <a:solidFill>
                <a:schemeClr val="tx1"/>
              </a:solidFill>
              <a:latin typeface="Arial" panose="020B0604020202020204" pitchFamily="34" charset="0"/>
              <a:cs typeface="Arial" panose="020B0604020202020204" pitchFamily="34" charset="0"/>
            </a:endParaRPr>
          </a:p>
          <a:p>
            <a:pPr algn="just"/>
            <a:r>
              <a:rPr lang="en-US" sz="1200" dirty="0">
                <a:solidFill>
                  <a:schemeClr val="tx1"/>
                </a:solidFill>
                <a:latin typeface="Arial" panose="020B0604020202020204" pitchFamily="34" charset="0"/>
                <a:cs typeface="Arial" panose="020B0604020202020204" pitchFamily="34" charset="0"/>
              </a:rPr>
              <a:t>Formula: L = lambda^2 / (</a:t>
            </a:r>
            <a:r>
              <a:rPr lang="en-US" sz="1200" dirty="0" err="1">
                <a:solidFill>
                  <a:schemeClr val="tx1"/>
                </a:solidFill>
                <a:latin typeface="Arial" panose="020B0604020202020204" pitchFamily="34" charset="0"/>
                <a:cs typeface="Arial" panose="020B0604020202020204" pitchFamily="34" charset="0"/>
              </a:rPr>
              <a:t>n_g</a:t>
            </a:r>
            <a:r>
              <a:rPr lang="en-US" sz="1200" dirty="0">
                <a:solidFill>
                  <a:schemeClr val="tx1"/>
                </a:solidFill>
                <a:latin typeface="Arial" panose="020B0604020202020204" pitchFamily="34" charset="0"/>
                <a:cs typeface="Arial" panose="020B0604020202020204" pitchFamily="34" charset="0"/>
              </a:rPr>
              <a:t> * FSR)</a:t>
            </a:r>
          </a:p>
          <a:p>
            <a:pPr algn="just"/>
            <a:r>
              <a:rPr lang="en-US" sz="1200" dirty="0">
                <a:solidFill>
                  <a:schemeClr val="tx1"/>
                </a:solidFill>
                <a:latin typeface="Arial" panose="020B0604020202020204" pitchFamily="34" charset="0"/>
                <a:cs typeface="Arial" panose="020B0604020202020204" pitchFamily="34" charset="0"/>
              </a:rPr>
              <a:t>Values: </a:t>
            </a:r>
          </a:p>
          <a:p>
            <a:pPr algn="just"/>
            <a:r>
              <a:rPr lang="en-US" sz="1200" dirty="0">
                <a:solidFill>
                  <a:schemeClr val="tx1"/>
                </a:solidFill>
                <a:latin typeface="Arial" panose="020B0604020202020204" pitchFamily="34" charset="0"/>
                <a:cs typeface="Arial" panose="020B0604020202020204" pitchFamily="34" charset="0"/>
              </a:rPr>
              <a:t>- lambda = 1.55 um (1550 nm)</a:t>
            </a:r>
          </a:p>
          <a:p>
            <a:pPr algn="just"/>
            <a:r>
              <a:rPr lang="en-US" sz="1200" dirty="0">
                <a:solidFill>
                  <a:schemeClr val="tx1"/>
                </a:solidFill>
                <a:latin typeface="Arial" panose="020B0604020202020204" pitchFamily="34" charset="0"/>
                <a:cs typeface="Arial" panose="020B0604020202020204" pitchFamily="34" charset="0"/>
              </a:rPr>
              <a:t>- </a:t>
            </a:r>
            <a:r>
              <a:rPr lang="en-US" sz="1200" dirty="0" err="1">
                <a:solidFill>
                  <a:schemeClr val="tx1"/>
                </a:solidFill>
                <a:latin typeface="Arial" panose="020B0604020202020204" pitchFamily="34" charset="0"/>
                <a:cs typeface="Arial" panose="020B0604020202020204" pitchFamily="34" charset="0"/>
              </a:rPr>
              <a:t>n_g</a:t>
            </a:r>
            <a:r>
              <a:rPr lang="en-US" sz="1200" dirty="0">
                <a:solidFill>
                  <a:schemeClr val="tx1"/>
                </a:solidFill>
                <a:latin typeface="Arial" panose="020B0604020202020204" pitchFamily="34" charset="0"/>
                <a:cs typeface="Arial" panose="020B0604020202020204" pitchFamily="34" charset="0"/>
              </a:rPr>
              <a:t> = 2.0</a:t>
            </a:r>
          </a:p>
          <a:p>
            <a:pPr algn="just"/>
            <a:r>
              <a:rPr lang="en-US" sz="1200" dirty="0">
                <a:solidFill>
                  <a:schemeClr val="tx1"/>
                </a:solidFill>
                <a:latin typeface="Arial" panose="020B0604020202020204" pitchFamily="34" charset="0"/>
                <a:cs typeface="Arial" panose="020B0604020202020204" pitchFamily="34" charset="0"/>
              </a:rPr>
              <a:t>- Target FSR = 15 nm (0.015 um)</a:t>
            </a:r>
          </a:p>
          <a:p>
            <a:pPr algn="just"/>
            <a:r>
              <a:rPr lang="en-US" sz="1200" dirty="0">
                <a:solidFill>
                  <a:schemeClr val="tx1"/>
                </a:solidFill>
                <a:latin typeface="Arial" panose="020B0604020202020204" pitchFamily="34" charset="0"/>
                <a:cs typeface="Arial" panose="020B0604020202020204" pitchFamily="34" charset="0"/>
              </a:rPr>
              <a:t>Calculation:</a:t>
            </a:r>
          </a:p>
          <a:p>
            <a:pPr algn="just"/>
            <a:r>
              <a:rPr lang="en-US" sz="1200" dirty="0">
                <a:solidFill>
                  <a:schemeClr val="tx1"/>
                </a:solidFill>
                <a:latin typeface="Arial" panose="020B0604020202020204" pitchFamily="34" charset="0"/>
                <a:cs typeface="Arial" panose="020B0604020202020204" pitchFamily="34" charset="0"/>
              </a:rPr>
              <a:t>L = (1.55 um)^2 / (2.0 * 0.015 um)</a:t>
            </a:r>
          </a:p>
          <a:p>
            <a:pPr algn="just"/>
            <a:r>
              <a:rPr lang="en-US" sz="1200" dirty="0">
                <a:solidFill>
                  <a:schemeClr val="tx1"/>
                </a:solidFill>
                <a:latin typeface="Arial" panose="020B0604020202020204" pitchFamily="34" charset="0"/>
                <a:cs typeface="Arial" panose="020B0604020202020204" pitchFamily="34" charset="0"/>
              </a:rPr>
              <a:t>L = 2.4025 / 0.03 = 80.0833 um</a:t>
            </a:r>
          </a:p>
          <a:p>
            <a:pPr algn="just"/>
            <a:r>
              <a:rPr lang="en-US" sz="1200" dirty="0">
                <a:solidFill>
                  <a:schemeClr val="tx1"/>
                </a:solidFill>
                <a:latin typeface="Arial" panose="020B0604020202020204" pitchFamily="34" charset="0"/>
                <a:cs typeface="Arial" panose="020B0604020202020204" pitchFamily="34" charset="0"/>
              </a:rPr>
              <a:t>Conclusion: To achieve exactly a 15 nm FSR, the ring perimeter must be 80.08 um.</a:t>
            </a:r>
          </a:p>
          <a:p>
            <a:pPr algn="just"/>
            <a:endParaRPr lang="en-US" sz="1200" dirty="0">
              <a:solidFill>
                <a:schemeClr val="tx1"/>
              </a:solidFill>
              <a:latin typeface="Arial" panose="020B0604020202020204" pitchFamily="34" charset="0"/>
              <a:cs typeface="Arial" panose="020B0604020202020204" pitchFamily="34" charset="0"/>
            </a:endParaRPr>
          </a:p>
        </p:txBody>
      </p:sp>
      <p:sp>
        <p:nvSpPr>
          <p:cNvPr id="10" name="Rectángulo 9">
            <a:extLst>
              <a:ext uri="{FF2B5EF4-FFF2-40B4-BE49-F238E27FC236}">
                <a16:creationId xmlns:a16="http://schemas.microsoft.com/office/drawing/2014/main" id="{82011495-88D4-8787-6CB7-704897D84CF9}"/>
              </a:ext>
            </a:extLst>
          </p:cNvPr>
          <p:cNvSpPr/>
          <p:nvPr/>
        </p:nvSpPr>
        <p:spPr>
          <a:xfrm>
            <a:off x="611030" y="1418373"/>
            <a:ext cx="3810000" cy="2467827"/>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CuadroTexto 11">
            <a:extLst>
              <a:ext uri="{FF2B5EF4-FFF2-40B4-BE49-F238E27FC236}">
                <a16:creationId xmlns:a16="http://schemas.microsoft.com/office/drawing/2014/main" id="{3BD35A6E-6540-9761-4128-0E43122290D4}"/>
              </a:ext>
            </a:extLst>
          </p:cNvPr>
          <p:cNvSpPr txBox="1"/>
          <p:nvPr/>
        </p:nvSpPr>
        <p:spPr>
          <a:xfrm>
            <a:off x="5536543" y="2494307"/>
            <a:ext cx="2033313" cy="1323439"/>
          </a:xfrm>
          <a:prstGeom prst="rect">
            <a:avLst/>
          </a:prstGeom>
          <a:noFill/>
        </p:spPr>
        <p:txBody>
          <a:bodyPr wrap="none" rtlCol="0">
            <a:spAutoFit/>
          </a:bodyPr>
          <a:lstStyle/>
          <a:p>
            <a:pPr algn="ctr"/>
            <a:r>
              <a:rPr lang="es-ES" sz="2000" dirty="0"/>
              <a:t>Single ring</a:t>
            </a:r>
          </a:p>
          <a:p>
            <a:pPr algn="ctr"/>
            <a:r>
              <a:rPr lang="es-ES" sz="2000" dirty="0"/>
              <a:t>transfer </a:t>
            </a:r>
            <a:r>
              <a:rPr lang="es-ES" sz="2000" dirty="0" err="1"/>
              <a:t>functions</a:t>
            </a:r>
            <a:endParaRPr lang="es-ES" sz="2000" dirty="0"/>
          </a:p>
          <a:p>
            <a:pPr algn="ctr"/>
            <a:endParaRPr lang="es-ES" sz="2000" dirty="0"/>
          </a:p>
          <a:p>
            <a:pPr algn="ctr"/>
            <a:r>
              <a:rPr lang="es-ES" sz="2000" dirty="0" err="1"/>
              <a:t>Logaritmic</a:t>
            </a:r>
            <a:r>
              <a:rPr lang="es-ES" sz="2000" dirty="0"/>
              <a:t> </a:t>
            </a:r>
            <a:r>
              <a:rPr lang="es-ES" sz="2000" dirty="0" err="1"/>
              <a:t>units</a:t>
            </a:r>
            <a:endParaRPr lang="en-US" sz="2000" dirty="0"/>
          </a:p>
        </p:txBody>
      </p:sp>
      <p:sp>
        <p:nvSpPr>
          <p:cNvPr id="13" name="Rectángulo 12">
            <a:extLst>
              <a:ext uri="{FF2B5EF4-FFF2-40B4-BE49-F238E27FC236}">
                <a16:creationId xmlns:a16="http://schemas.microsoft.com/office/drawing/2014/main" id="{03798D61-1E16-8473-BDCE-1D97F95EF7BE}"/>
              </a:ext>
            </a:extLst>
          </p:cNvPr>
          <p:cNvSpPr/>
          <p:nvPr/>
        </p:nvSpPr>
        <p:spPr>
          <a:xfrm>
            <a:off x="4648200" y="1418373"/>
            <a:ext cx="3810000" cy="2467827"/>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CuadroTexto 15">
            <a:extLst>
              <a:ext uri="{FF2B5EF4-FFF2-40B4-BE49-F238E27FC236}">
                <a16:creationId xmlns:a16="http://schemas.microsoft.com/office/drawing/2014/main" id="{B49B3613-E785-3FCB-DA8D-2B43EB104C5D}"/>
              </a:ext>
            </a:extLst>
          </p:cNvPr>
          <p:cNvSpPr txBox="1"/>
          <p:nvPr/>
        </p:nvSpPr>
        <p:spPr>
          <a:xfrm>
            <a:off x="1499379" y="2478160"/>
            <a:ext cx="2033313" cy="1323439"/>
          </a:xfrm>
          <a:prstGeom prst="rect">
            <a:avLst/>
          </a:prstGeom>
          <a:noFill/>
        </p:spPr>
        <p:txBody>
          <a:bodyPr wrap="none" rtlCol="0">
            <a:spAutoFit/>
          </a:bodyPr>
          <a:lstStyle/>
          <a:p>
            <a:pPr algn="ctr"/>
            <a:r>
              <a:rPr lang="es-ES" sz="2000" dirty="0"/>
              <a:t>Single ring</a:t>
            </a:r>
          </a:p>
          <a:p>
            <a:pPr algn="ctr"/>
            <a:r>
              <a:rPr lang="es-ES" sz="2000" dirty="0"/>
              <a:t>transfer </a:t>
            </a:r>
            <a:r>
              <a:rPr lang="es-ES" sz="2000" dirty="0" err="1"/>
              <a:t>functions</a:t>
            </a:r>
            <a:endParaRPr lang="es-ES" sz="2000" dirty="0"/>
          </a:p>
          <a:p>
            <a:pPr algn="ctr"/>
            <a:endParaRPr lang="es-ES" sz="2000" dirty="0"/>
          </a:p>
          <a:p>
            <a:pPr algn="ctr"/>
            <a:r>
              <a:rPr lang="es-ES" sz="2000" dirty="0"/>
              <a:t>Linear </a:t>
            </a:r>
            <a:r>
              <a:rPr lang="es-ES" sz="2000" dirty="0" err="1"/>
              <a:t>units</a:t>
            </a:r>
            <a:endParaRPr lang="en-US" sz="2000" dirty="0"/>
          </a:p>
        </p:txBody>
      </p:sp>
      <p:pic>
        <p:nvPicPr>
          <p:cNvPr id="11" name="Gráfico 10">
            <a:extLst>
              <a:ext uri="{FF2B5EF4-FFF2-40B4-BE49-F238E27FC236}">
                <a16:creationId xmlns:a16="http://schemas.microsoft.com/office/drawing/2014/main" id="{64B3EEA8-5B6A-F628-0B9C-42450CEE9BE1}"/>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5045006" y="6356057"/>
            <a:ext cx="6409575" cy="363174"/>
          </a:xfrm>
          <a:prstGeom prst="rect">
            <a:avLst/>
          </a:prstGeom>
        </p:spPr>
      </p:pic>
      <p:sp>
        <p:nvSpPr>
          <p:cNvPr id="14" name="object 16">
            <a:extLst>
              <a:ext uri="{FF2B5EF4-FFF2-40B4-BE49-F238E27FC236}">
                <a16:creationId xmlns:a16="http://schemas.microsoft.com/office/drawing/2014/main" id="{4E9E05B5-9445-DD50-60E9-03B04ED264D4}"/>
              </a:ext>
            </a:extLst>
          </p:cNvPr>
          <p:cNvSpPr txBox="1">
            <a:spLocks/>
          </p:cNvSpPr>
          <p:nvPr/>
        </p:nvSpPr>
        <p:spPr>
          <a:xfrm>
            <a:off x="685800" y="408883"/>
            <a:ext cx="10994410" cy="718145"/>
          </a:xfrm>
          <a:prstGeom prst="rect">
            <a:avLst/>
          </a:prstGeom>
        </p:spPr>
        <p:txBody>
          <a:bodyPr vert="horz" wrap="square" lIns="0" tIns="12700" rIns="0" bIns="0" rtlCol="0">
            <a:spAutoFit/>
          </a:bodyPr>
          <a:lstStyle>
            <a:lvl1pPr>
              <a:defRPr sz="2000" b="1" i="0">
                <a:solidFill>
                  <a:schemeClr val="tx1"/>
                </a:solidFill>
                <a:latin typeface="Calibri"/>
                <a:ea typeface="+mj-ea"/>
                <a:cs typeface="Calibri"/>
              </a:defRPr>
            </a:lvl1pPr>
          </a:lstStyle>
          <a:p>
            <a:pPr marL="12700">
              <a:spcBef>
                <a:spcPts val="100"/>
              </a:spcBef>
            </a:pPr>
            <a:r>
              <a:rPr lang="en-US" sz="2500" kern="0" dirty="0"/>
              <a:t>Learning outcome #5 – Ring resonator design</a:t>
            </a:r>
          </a:p>
          <a:p>
            <a:pPr marL="12700">
              <a:spcBef>
                <a:spcPts val="100"/>
              </a:spcBef>
            </a:pPr>
            <a:r>
              <a:rPr lang="en-US" b="0" kern="0" spc="-5" dirty="0">
                <a:latin typeface="+mj-lt"/>
                <a:cs typeface="Lucida Sans"/>
              </a:rPr>
              <a:t>Design the perimeter for a FSR = 15 nm. </a:t>
            </a:r>
          </a:p>
        </p:txBody>
      </p:sp>
      <p:pic>
        <p:nvPicPr>
          <p:cNvPr id="18" name="Obraz 17">
            <a:extLst>
              <a:ext uri="{FF2B5EF4-FFF2-40B4-BE49-F238E27FC236}">
                <a16:creationId xmlns:a16="http://schemas.microsoft.com/office/drawing/2014/main" id="{E05BBDF0-EF63-B150-E172-92FEC6B3F9BC}"/>
              </a:ext>
            </a:extLst>
          </p:cNvPr>
          <p:cNvPicPr>
            <a:picLocks noChangeAspect="1"/>
          </p:cNvPicPr>
          <p:nvPr/>
        </p:nvPicPr>
        <p:blipFill>
          <a:blip r:embed="rId3"/>
          <a:stretch>
            <a:fillRect/>
          </a:stretch>
        </p:blipFill>
        <p:spPr>
          <a:xfrm>
            <a:off x="625151" y="1473634"/>
            <a:ext cx="3733800" cy="1717707"/>
          </a:xfrm>
          <a:prstGeom prst="rect">
            <a:avLst/>
          </a:prstGeom>
        </p:spPr>
      </p:pic>
      <p:pic>
        <p:nvPicPr>
          <p:cNvPr id="20" name="Obraz 19">
            <a:extLst>
              <a:ext uri="{FF2B5EF4-FFF2-40B4-BE49-F238E27FC236}">
                <a16:creationId xmlns:a16="http://schemas.microsoft.com/office/drawing/2014/main" id="{7083DE45-CC53-1F39-B75F-C357FC11E9BE}"/>
              </a:ext>
            </a:extLst>
          </p:cNvPr>
          <p:cNvPicPr>
            <a:picLocks noChangeAspect="1"/>
          </p:cNvPicPr>
          <p:nvPr/>
        </p:nvPicPr>
        <p:blipFill>
          <a:blip r:embed="rId4"/>
          <a:stretch>
            <a:fillRect/>
          </a:stretch>
        </p:blipFill>
        <p:spPr>
          <a:xfrm>
            <a:off x="4731670" y="1500941"/>
            <a:ext cx="3701268" cy="1739564"/>
          </a:xfrm>
          <a:prstGeom prst="rect">
            <a:avLst/>
          </a:prstGeom>
        </p:spPr>
      </p:pic>
    </p:spTree>
    <p:extLst>
      <p:ext uri="{BB962C8B-B14F-4D97-AF65-F5344CB8AC3E}">
        <p14:creationId xmlns:p14="http://schemas.microsoft.com/office/powerpoint/2010/main" val="291598926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64A74CF1-00DE-B5A2-5A18-585081ABF997}"/>
              </a:ext>
            </a:extLst>
          </p:cNvPr>
          <p:cNvSpPr>
            <a:spLocks noGrp="1"/>
          </p:cNvSpPr>
          <p:nvPr>
            <p:ph type="title"/>
          </p:nvPr>
        </p:nvSpPr>
        <p:spPr>
          <a:xfrm>
            <a:off x="590550" y="206752"/>
            <a:ext cx="10991850" cy="738664"/>
          </a:xfrm>
        </p:spPr>
        <p:txBody>
          <a:bodyPr/>
          <a:lstStyle/>
          <a:p>
            <a:r>
              <a:rPr lang="pl-PL" sz="4800" dirty="0"/>
              <a:t>LO5</a:t>
            </a:r>
          </a:p>
        </p:txBody>
      </p:sp>
      <p:sp>
        <p:nvSpPr>
          <p:cNvPr id="3" name="Symbol zastępczy tekstu 2">
            <a:extLst>
              <a:ext uri="{FF2B5EF4-FFF2-40B4-BE49-F238E27FC236}">
                <a16:creationId xmlns:a16="http://schemas.microsoft.com/office/drawing/2014/main" id="{16EAB10D-6810-7EAD-01EE-D0286D98A14E}"/>
              </a:ext>
            </a:extLst>
          </p:cNvPr>
          <p:cNvSpPr>
            <a:spLocks noGrp="1"/>
          </p:cNvSpPr>
          <p:nvPr>
            <p:ph type="body" idx="1"/>
          </p:nvPr>
        </p:nvSpPr>
        <p:spPr>
          <a:xfrm>
            <a:off x="457200" y="1066800"/>
            <a:ext cx="10972800" cy="4431983"/>
          </a:xfrm>
        </p:spPr>
        <p:txBody>
          <a:bodyPr/>
          <a:lstStyle/>
          <a:p>
            <a:r>
              <a:rPr lang="en-US" dirty="0"/>
              <a:t>1. Transfer function &amp; Coupler:</a:t>
            </a:r>
          </a:p>
          <a:p>
            <a:r>
              <a:rPr lang="en-US" dirty="0"/>
              <a:t>The graph has periodic resonance dips every 15 nm (our FSR). The coupler coefficient (K) changes the shape; if K is too high or too low compared to ring losses, the dips get shallow and broad.</a:t>
            </a:r>
          </a:p>
          <a:p>
            <a:endParaRPr lang="en-US" dirty="0"/>
          </a:p>
          <a:p>
            <a:r>
              <a:rPr lang="en-US" dirty="0"/>
              <a:t>2. Extinction Ratio (ER):</a:t>
            </a:r>
          </a:p>
          <a:p>
            <a:r>
              <a:rPr lang="en-US" dirty="0"/>
              <a:t>On the log plot, max transmission is ~0 dB and the dips go down to -20 </a:t>
            </a:r>
            <a:r>
              <a:rPr lang="en-US" dirty="0" err="1"/>
              <a:t>dB.</a:t>
            </a:r>
            <a:r>
              <a:rPr lang="en-US" dirty="0"/>
              <a:t> So, the Extinction Ratio is exactly 20 </a:t>
            </a:r>
            <a:r>
              <a:rPr lang="en-US" dirty="0" err="1"/>
              <a:t>dB.</a:t>
            </a:r>
            <a:endParaRPr lang="en-US" dirty="0"/>
          </a:p>
          <a:p>
            <a:endParaRPr lang="en-US" dirty="0"/>
          </a:p>
          <a:p>
            <a:r>
              <a:rPr lang="en-US" dirty="0"/>
              <a:t>3. Critical Coupling:</a:t>
            </a:r>
          </a:p>
          <a:p>
            <a:r>
              <a:rPr lang="en-US" dirty="0"/>
              <a:t>This happens when the coupled power matches the ring's round-trip loss, making the dip go theoretically to minus infinity (perfect notch).</a:t>
            </a:r>
          </a:p>
          <a:p>
            <a:r>
              <a:rPr lang="en-US" dirty="0"/>
              <a:t>- Formula: K = 1 - </a:t>
            </a:r>
            <a:r>
              <a:rPr lang="en-US" dirty="0" err="1"/>
              <a:t>Round_Trip_Transmission</a:t>
            </a:r>
            <a:endParaRPr lang="en-US" dirty="0"/>
          </a:p>
          <a:p>
            <a:r>
              <a:rPr lang="en-US" dirty="0"/>
              <a:t>- Loss: 0.02 dB/um * 80.08 um = 1.6 dB</a:t>
            </a:r>
          </a:p>
          <a:p>
            <a:r>
              <a:rPr lang="en-US" dirty="0"/>
              <a:t>- Transmission (a^2): 10^(-1.6 / 10) = 0.691</a:t>
            </a:r>
          </a:p>
          <a:p>
            <a:r>
              <a:rPr lang="en-US" dirty="0"/>
              <a:t>- Critical K: 1 - 0.691 = 0.309</a:t>
            </a:r>
          </a:p>
          <a:p>
            <a:endParaRPr lang="en-US" dirty="0"/>
          </a:p>
          <a:p>
            <a:r>
              <a:rPr lang="en-US" dirty="0"/>
              <a:t>To get critical coupling, we just need to set the coupler to 0.309.</a:t>
            </a:r>
            <a:endParaRPr lang="pl-PL" dirty="0"/>
          </a:p>
        </p:txBody>
      </p:sp>
      <p:sp>
        <p:nvSpPr>
          <p:cNvPr id="4" name="Symbol zastępczy stopki 3">
            <a:extLst>
              <a:ext uri="{FF2B5EF4-FFF2-40B4-BE49-F238E27FC236}">
                <a16:creationId xmlns:a16="http://schemas.microsoft.com/office/drawing/2014/main" id="{B513E522-DBCC-AB87-6ADC-14EB35E32CBA}"/>
              </a:ext>
            </a:extLst>
          </p:cNvPr>
          <p:cNvSpPr>
            <a:spLocks noGrp="1"/>
          </p:cNvSpPr>
          <p:nvPr>
            <p:ph type="ftr" sz="quarter" idx="5"/>
          </p:nvPr>
        </p:nvSpPr>
        <p:spPr/>
        <p:txBody>
          <a:bodyPr/>
          <a:lstStyle/>
          <a:p>
            <a:pPr marL="12700">
              <a:spcBef>
                <a:spcPts val="15"/>
              </a:spcBef>
            </a:pPr>
            <a:r>
              <a:rPr lang="es-ES" spc="-5"/>
              <a:t>LAB 3.0. CIRCUITS &amp; COMPACT MODELS</a:t>
            </a:r>
            <a:endParaRPr lang="es-ES" spc="-5" dirty="0"/>
          </a:p>
        </p:txBody>
      </p:sp>
      <p:sp>
        <p:nvSpPr>
          <p:cNvPr id="5" name="Symbol zastępczy numeru slajdu 4">
            <a:extLst>
              <a:ext uri="{FF2B5EF4-FFF2-40B4-BE49-F238E27FC236}">
                <a16:creationId xmlns:a16="http://schemas.microsoft.com/office/drawing/2014/main" id="{D388E7DD-CCD3-9A17-0166-DBF581DFC434}"/>
              </a:ext>
            </a:extLst>
          </p:cNvPr>
          <p:cNvSpPr>
            <a:spLocks noGrp="1"/>
          </p:cNvSpPr>
          <p:nvPr>
            <p:ph type="sldNum" sz="quarter" idx="7"/>
          </p:nvPr>
        </p:nvSpPr>
        <p:spPr/>
        <p:txBody>
          <a:bodyPr/>
          <a:lstStyle/>
          <a:p>
            <a:fld id="{B6F15528-21DE-4FAA-801E-634DDDAF4B2B}" type="slidenum">
              <a:rPr lang="pl-PL" smtClean="0"/>
              <a:t>12</a:t>
            </a:fld>
            <a:endParaRPr lang="pl-PL"/>
          </a:p>
        </p:txBody>
      </p:sp>
    </p:spTree>
    <p:extLst>
      <p:ext uri="{BB962C8B-B14F-4D97-AF65-F5344CB8AC3E}">
        <p14:creationId xmlns:p14="http://schemas.microsoft.com/office/powerpoint/2010/main" val="26016262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Marcador de pie de página 4">
            <a:extLst>
              <a:ext uri="{FF2B5EF4-FFF2-40B4-BE49-F238E27FC236}">
                <a16:creationId xmlns:a16="http://schemas.microsoft.com/office/drawing/2014/main" id="{F929251A-3DC4-36B2-3FB3-341378364BED}"/>
              </a:ext>
            </a:extLst>
          </p:cNvPr>
          <p:cNvSpPr>
            <a:spLocks noGrp="1"/>
          </p:cNvSpPr>
          <p:nvPr>
            <p:ph type="ftr" sz="quarter" idx="5"/>
          </p:nvPr>
        </p:nvSpPr>
        <p:spPr/>
        <p:txBody>
          <a:bodyPr/>
          <a:lstStyle/>
          <a:p>
            <a:r>
              <a:rPr lang="en-US"/>
              <a:t>LAB 3.0. CIRCUITS &amp; COMPACT MODELS</a:t>
            </a:r>
          </a:p>
        </p:txBody>
      </p:sp>
      <p:sp>
        <p:nvSpPr>
          <p:cNvPr id="6" name="Marcador de número de diapositiva 5">
            <a:extLst>
              <a:ext uri="{FF2B5EF4-FFF2-40B4-BE49-F238E27FC236}">
                <a16:creationId xmlns:a16="http://schemas.microsoft.com/office/drawing/2014/main" id="{8E91A34C-DF76-97CF-3EFD-546BC64A2184}"/>
              </a:ext>
            </a:extLst>
          </p:cNvPr>
          <p:cNvSpPr>
            <a:spLocks noGrp="1"/>
          </p:cNvSpPr>
          <p:nvPr>
            <p:ph type="sldNum" sz="quarter" idx="7"/>
          </p:nvPr>
        </p:nvSpPr>
        <p:spPr/>
        <p:txBody>
          <a:bodyPr/>
          <a:lstStyle/>
          <a:p>
            <a:fld id="{C2F52289-4012-4053-9770-FE82CEB9514F}" type="slidenum">
              <a:rPr lang="en-US" smtClean="0"/>
              <a:pPr/>
              <a:t>13</a:t>
            </a:fld>
            <a:endParaRPr lang="en-US" dirty="0"/>
          </a:p>
        </p:txBody>
      </p:sp>
      <p:sp>
        <p:nvSpPr>
          <p:cNvPr id="8" name="CuadroTexto 7">
            <a:extLst>
              <a:ext uri="{FF2B5EF4-FFF2-40B4-BE49-F238E27FC236}">
                <a16:creationId xmlns:a16="http://schemas.microsoft.com/office/drawing/2014/main" id="{D9601617-351E-AE1A-1F4D-693F2EA59361}"/>
              </a:ext>
            </a:extLst>
          </p:cNvPr>
          <p:cNvSpPr txBox="1"/>
          <p:nvPr/>
        </p:nvSpPr>
        <p:spPr>
          <a:xfrm>
            <a:off x="604935" y="4369415"/>
            <a:ext cx="11199530" cy="1384995"/>
          </a:xfrm>
          <a:prstGeom prst="rect">
            <a:avLst/>
          </a:prstGeom>
          <a:solidFill>
            <a:schemeClr val="bg1">
              <a:lumMod val="95000"/>
            </a:schemeClr>
          </a:solidFill>
          <a:ln w="28575">
            <a:solidFill>
              <a:srgbClr val="E0700D"/>
            </a:solidFill>
          </a:ln>
        </p:spPr>
        <p:txBody>
          <a:bodyPr wrap="square" rtlCol="0">
            <a:spAutoFit/>
          </a:bodyPr>
          <a:lstStyle/>
          <a:p>
            <a:pPr algn="just"/>
            <a:r>
              <a:rPr lang="en-US" sz="1200" b="1" dirty="0">
                <a:latin typeface="Arial" panose="020B0604020202020204" pitchFamily="34" charset="0"/>
                <a:cs typeface="Arial" panose="020B0604020202020204" pitchFamily="34" charset="0"/>
              </a:rPr>
              <a:t>Comment results: Try to classify the resonances, in which case are you close to critical coupling? Why?</a:t>
            </a:r>
          </a:p>
          <a:p>
            <a:pPr algn="just"/>
            <a:endParaRPr lang="en-US" sz="1200" dirty="0">
              <a:latin typeface="Arial" panose="020B0604020202020204" pitchFamily="34" charset="0"/>
              <a:cs typeface="Arial" panose="020B0604020202020204" pitchFamily="34" charset="0"/>
            </a:endParaRPr>
          </a:p>
          <a:p>
            <a:pPr algn="just"/>
            <a:r>
              <a:rPr lang="en-US" sz="1200" i="1" dirty="0">
                <a:latin typeface="Arial" panose="020B0604020202020204" pitchFamily="34" charset="0"/>
                <a:cs typeface="Arial" panose="020B0604020202020204" pitchFamily="34" charset="0"/>
              </a:rPr>
              <a:t>We can classify the resonances into three regimes: </a:t>
            </a:r>
            <a:r>
              <a:rPr lang="en-US" sz="1200" i="1" dirty="0" err="1">
                <a:latin typeface="Arial" panose="020B0604020202020204" pitchFamily="34" charset="0"/>
                <a:cs typeface="Arial" panose="020B0604020202020204" pitchFamily="34" charset="0"/>
              </a:rPr>
              <a:t>undercoupled</a:t>
            </a:r>
            <a:r>
              <a:rPr lang="en-US" sz="1200" i="1" dirty="0">
                <a:latin typeface="Arial" panose="020B0604020202020204" pitchFamily="34" charset="0"/>
                <a:cs typeface="Arial" panose="020B0604020202020204" pitchFamily="34" charset="0"/>
              </a:rPr>
              <a:t>, critically coupled, and </a:t>
            </a:r>
            <a:r>
              <a:rPr lang="en-US" sz="1200" i="1" dirty="0" err="1">
                <a:latin typeface="Arial" panose="020B0604020202020204" pitchFamily="34" charset="0"/>
                <a:cs typeface="Arial" panose="020B0604020202020204" pitchFamily="34" charset="0"/>
              </a:rPr>
              <a:t>overcoupled</a:t>
            </a:r>
            <a:r>
              <a:rPr lang="en-US" sz="1200" i="1" dirty="0">
                <a:latin typeface="Arial" panose="020B0604020202020204" pitchFamily="34" charset="0"/>
                <a:cs typeface="Arial" panose="020B0604020202020204" pitchFamily="34" charset="0"/>
              </a:rPr>
              <a:t>. </a:t>
            </a:r>
          </a:p>
          <a:p>
            <a:pPr algn="just"/>
            <a:r>
              <a:rPr lang="en-US" sz="1200" i="1" dirty="0">
                <a:latin typeface="Arial" panose="020B0604020202020204" pitchFamily="34" charset="0"/>
                <a:cs typeface="Arial" panose="020B0604020202020204" pitchFamily="34" charset="0"/>
              </a:rPr>
              <a:t>The case closest to critical coupling is K = 0.2 (dark blue curve). We can see this because its transmission drops exactly to zero at the resonance wavelengths. At this specific value, the power coupled into the ring perfectly balances the internal round-trip losses, causing total destructive interference at the output. </a:t>
            </a:r>
          </a:p>
          <a:p>
            <a:pPr algn="just"/>
            <a:r>
              <a:rPr lang="en-US" sz="1200" i="1" dirty="0">
                <a:latin typeface="Arial" panose="020B0604020202020204" pitchFamily="34" charset="0"/>
                <a:cs typeface="Arial" panose="020B0604020202020204" pitchFamily="34" charset="0"/>
              </a:rPr>
              <a:t>For K = 0.1, the ring is </a:t>
            </a:r>
            <a:r>
              <a:rPr lang="en-US" sz="1200" i="1" dirty="0" err="1">
                <a:latin typeface="Arial" panose="020B0604020202020204" pitchFamily="34" charset="0"/>
                <a:cs typeface="Arial" panose="020B0604020202020204" pitchFamily="34" charset="0"/>
              </a:rPr>
              <a:t>undercoupled</a:t>
            </a:r>
            <a:r>
              <a:rPr lang="en-US" sz="1200" i="1" dirty="0">
                <a:latin typeface="Arial" panose="020B0604020202020204" pitchFamily="34" charset="0"/>
                <a:cs typeface="Arial" panose="020B0604020202020204" pitchFamily="34" charset="0"/>
              </a:rPr>
              <a:t> so the dip doesn't reach zero. For any value where K &gt; 0.2, the ring becomes </a:t>
            </a:r>
            <a:r>
              <a:rPr lang="en-US" sz="1200" i="1" dirty="0" err="1">
                <a:latin typeface="Arial" panose="020B0604020202020204" pitchFamily="34" charset="0"/>
                <a:cs typeface="Arial" panose="020B0604020202020204" pitchFamily="34" charset="0"/>
              </a:rPr>
              <a:t>overcoupled</a:t>
            </a:r>
            <a:r>
              <a:rPr lang="en-US" sz="1200" i="1" dirty="0">
                <a:latin typeface="Arial" panose="020B0604020202020204" pitchFamily="34" charset="0"/>
                <a:cs typeface="Arial" panose="020B0604020202020204" pitchFamily="34" charset="0"/>
              </a:rPr>
              <a:t>, which makes the resonance dips look much wider and shallower.</a:t>
            </a:r>
          </a:p>
        </p:txBody>
      </p:sp>
      <p:sp>
        <p:nvSpPr>
          <p:cNvPr id="11" name="Rectángulo 10">
            <a:extLst>
              <a:ext uri="{FF2B5EF4-FFF2-40B4-BE49-F238E27FC236}">
                <a16:creationId xmlns:a16="http://schemas.microsoft.com/office/drawing/2014/main" id="{B811A5F9-C0B5-716C-70FB-9472E1BC2CD3}"/>
              </a:ext>
            </a:extLst>
          </p:cNvPr>
          <p:cNvSpPr/>
          <p:nvPr/>
        </p:nvSpPr>
        <p:spPr>
          <a:xfrm>
            <a:off x="611030" y="1418373"/>
            <a:ext cx="2538552" cy="2781873"/>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ángulo 13">
            <a:extLst>
              <a:ext uri="{FF2B5EF4-FFF2-40B4-BE49-F238E27FC236}">
                <a16:creationId xmlns:a16="http://schemas.microsoft.com/office/drawing/2014/main" id="{6AA857E7-5C39-DCE1-10B5-40300FCF4B26}"/>
              </a:ext>
            </a:extLst>
          </p:cNvPr>
          <p:cNvSpPr/>
          <p:nvPr/>
        </p:nvSpPr>
        <p:spPr>
          <a:xfrm>
            <a:off x="3277315" y="1419036"/>
            <a:ext cx="2538552" cy="2781873"/>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CuadroTexto 14">
            <a:extLst>
              <a:ext uri="{FF2B5EF4-FFF2-40B4-BE49-F238E27FC236}">
                <a16:creationId xmlns:a16="http://schemas.microsoft.com/office/drawing/2014/main" id="{54CF28B4-1346-F41D-2CD8-EA104ABBFB98}"/>
              </a:ext>
            </a:extLst>
          </p:cNvPr>
          <p:cNvSpPr txBox="1"/>
          <p:nvPr/>
        </p:nvSpPr>
        <p:spPr>
          <a:xfrm>
            <a:off x="863650" y="2101891"/>
            <a:ext cx="2033313" cy="1938992"/>
          </a:xfrm>
          <a:prstGeom prst="rect">
            <a:avLst/>
          </a:prstGeom>
          <a:noFill/>
        </p:spPr>
        <p:txBody>
          <a:bodyPr wrap="none" rtlCol="0">
            <a:spAutoFit/>
          </a:bodyPr>
          <a:lstStyle/>
          <a:p>
            <a:pPr algn="ctr"/>
            <a:r>
              <a:rPr lang="es-ES" sz="2000" dirty="0"/>
              <a:t>Single ring</a:t>
            </a:r>
          </a:p>
          <a:p>
            <a:pPr algn="ctr"/>
            <a:r>
              <a:rPr lang="es-ES" sz="2000" dirty="0"/>
              <a:t>transfer </a:t>
            </a:r>
            <a:r>
              <a:rPr lang="es-ES" sz="2000" dirty="0" err="1"/>
              <a:t>functions</a:t>
            </a:r>
            <a:endParaRPr lang="es-ES" sz="2000" dirty="0"/>
          </a:p>
          <a:p>
            <a:pPr algn="ctr"/>
            <a:endParaRPr lang="es-ES" sz="2000" dirty="0"/>
          </a:p>
          <a:p>
            <a:pPr algn="ctr"/>
            <a:r>
              <a:rPr lang="es-ES" sz="2000" dirty="0"/>
              <a:t>Linear </a:t>
            </a:r>
            <a:r>
              <a:rPr lang="es-ES" sz="2000" dirty="0" err="1"/>
              <a:t>units</a:t>
            </a:r>
            <a:endParaRPr lang="es-ES" sz="2000" dirty="0"/>
          </a:p>
          <a:p>
            <a:pPr algn="ctr"/>
            <a:endParaRPr lang="es-ES" sz="2000" dirty="0"/>
          </a:p>
          <a:p>
            <a:pPr algn="ctr"/>
            <a:r>
              <a:rPr lang="es-ES" sz="2000" dirty="0"/>
              <a:t>K=</a:t>
            </a:r>
            <a:endParaRPr lang="en-US" sz="2000" dirty="0"/>
          </a:p>
        </p:txBody>
      </p:sp>
      <p:sp>
        <p:nvSpPr>
          <p:cNvPr id="9" name="Rectángulo 8">
            <a:extLst>
              <a:ext uri="{FF2B5EF4-FFF2-40B4-BE49-F238E27FC236}">
                <a16:creationId xmlns:a16="http://schemas.microsoft.com/office/drawing/2014/main" id="{11F0F5FC-B571-59FC-7890-3105A6A843BB}"/>
              </a:ext>
            </a:extLst>
          </p:cNvPr>
          <p:cNvSpPr/>
          <p:nvPr/>
        </p:nvSpPr>
        <p:spPr>
          <a:xfrm>
            <a:off x="5943600" y="1418373"/>
            <a:ext cx="2538552" cy="2781873"/>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CuadroTexto 9">
            <a:extLst>
              <a:ext uri="{FF2B5EF4-FFF2-40B4-BE49-F238E27FC236}">
                <a16:creationId xmlns:a16="http://schemas.microsoft.com/office/drawing/2014/main" id="{3146642F-220B-8F6A-59A8-2D128DDF3BEB}"/>
              </a:ext>
            </a:extLst>
          </p:cNvPr>
          <p:cNvSpPr txBox="1"/>
          <p:nvPr/>
        </p:nvSpPr>
        <p:spPr>
          <a:xfrm>
            <a:off x="3529935" y="2104638"/>
            <a:ext cx="2033313" cy="1938992"/>
          </a:xfrm>
          <a:prstGeom prst="rect">
            <a:avLst/>
          </a:prstGeom>
          <a:noFill/>
        </p:spPr>
        <p:txBody>
          <a:bodyPr wrap="none" rtlCol="0">
            <a:spAutoFit/>
          </a:bodyPr>
          <a:lstStyle/>
          <a:p>
            <a:pPr algn="ctr"/>
            <a:r>
              <a:rPr lang="es-ES" sz="2000" dirty="0"/>
              <a:t>Single ring</a:t>
            </a:r>
          </a:p>
          <a:p>
            <a:pPr algn="ctr"/>
            <a:r>
              <a:rPr lang="es-ES" sz="2000" dirty="0"/>
              <a:t>transfer </a:t>
            </a:r>
            <a:r>
              <a:rPr lang="es-ES" sz="2000" dirty="0" err="1"/>
              <a:t>functions</a:t>
            </a:r>
            <a:endParaRPr lang="es-ES" sz="2000" dirty="0"/>
          </a:p>
          <a:p>
            <a:pPr algn="ctr"/>
            <a:endParaRPr lang="es-ES" sz="2000" dirty="0"/>
          </a:p>
          <a:p>
            <a:pPr algn="ctr"/>
            <a:r>
              <a:rPr lang="es-ES" sz="2000" dirty="0"/>
              <a:t>Linear </a:t>
            </a:r>
            <a:r>
              <a:rPr lang="es-ES" sz="2000" dirty="0" err="1"/>
              <a:t>units</a:t>
            </a:r>
            <a:endParaRPr lang="es-ES" sz="2000" dirty="0"/>
          </a:p>
          <a:p>
            <a:pPr algn="ctr"/>
            <a:endParaRPr lang="es-ES" sz="2000" dirty="0"/>
          </a:p>
          <a:p>
            <a:pPr algn="ctr"/>
            <a:r>
              <a:rPr lang="es-ES" sz="2000" dirty="0"/>
              <a:t>K=</a:t>
            </a:r>
            <a:endParaRPr lang="en-US" sz="2000" dirty="0"/>
          </a:p>
        </p:txBody>
      </p:sp>
      <p:sp>
        <p:nvSpPr>
          <p:cNvPr id="13" name="CuadroTexto 12">
            <a:extLst>
              <a:ext uri="{FF2B5EF4-FFF2-40B4-BE49-F238E27FC236}">
                <a16:creationId xmlns:a16="http://schemas.microsoft.com/office/drawing/2014/main" id="{057C499E-829F-FB11-9128-843C937CB822}"/>
              </a:ext>
            </a:extLst>
          </p:cNvPr>
          <p:cNvSpPr txBox="1"/>
          <p:nvPr/>
        </p:nvSpPr>
        <p:spPr>
          <a:xfrm>
            <a:off x="6195187" y="2101891"/>
            <a:ext cx="2033313" cy="1938992"/>
          </a:xfrm>
          <a:prstGeom prst="rect">
            <a:avLst/>
          </a:prstGeom>
          <a:noFill/>
        </p:spPr>
        <p:txBody>
          <a:bodyPr wrap="none" rtlCol="0">
            <a:spAutoFit/>
          </a:bodyPr>
          <a:lstStyle/>
          <a:p>
            <a:pPr algn="ctr"/>
            <a:r>
              <a:rPr lang="es-ES" sz="2000" dirty="0"/>
              <a:t>Single ring</a:t>
            </a:r>
          </a:p>
          <a:p>
            <a:pPr algn="ctr"/>
            <a:r>
              <a:rPr lang="es-ES" sz="2000" dirty="0"/>
              <a:t>transfer </a:t>
            </a:r>
            <a:r>
              <a:rPr lang="es-ES" sz="2000" dirty="0" err="1"/>
              <a:t>functions</a:t>
            </a:r>
            <a:endParaRPr lang="es-ES" sz="2000" dirty="0"/>
          </a:p>
          <a:p>
            <a:pPr algn="ctr"/>
            <a:endParaRPr lang="es-ES" sz="2000" dirty="0"/>
          </a:p>
          <a:p>
            <a:pPr algn="ctr"/>
            <a:r>
              <a:rPr lang="es-ES" sz="2000" dirty="0"/>
              <a:t>Linear </a:t>
            </a:r>
            <a:r>
              <a:rPr lang="es-ES" sz="2000" dirty="0" err="1"/>
              <a:t>units</a:t>
            </a:r>
            <a:endParaRPr lang="es-ES" sz="2000" dirty="0"/>
          </a:p>
          <a:p>
            <a:pPr algn="ctr"/>
            <a:endParaRPr lang="es-ES" sz="2000" dirty="0"/>
          </a:p>
          <a:p>
            <a:pPr algn="ctr"/>
            <a:r>
              <a:rPr lang="es-ES" sz="2000" dirty="0"/>
              <a:t>K=</a:t>
            </a:r>
            <a:endParaRPr lang="en-US" sz="2000" dirty="0"/>
          </a:p>
        </p:txBody>
      </p:sp>
      <p:sp>
        <p:nvSpPr>
          <p:cNvPr id="12" name="CuadroTexto 11">
            <a:extLst>
              <a:ext uri="{FF2B5EF4-FFF2-40B4-BE49-F238E27FC236}">
                <a16:creationId xmlns:a16="http://schemas.microsoft.com/office/drawing/2014/main" id="{4E78CC89-1377-28A4-024D-1B017D551FC5}"/>
              </a:ext>
            </a:extLst>
          </p:cNvPr>
          <p:cNvSpPr txBox="1"/>
          <p:nvPr/>
        </p:nvSpPr>
        <p:spPr>
          <a:xfrm>
            <a:off x="9869875" y="2871332"/>
            <a:ext cx="360996" cy="400110"/>
          </a:xfrm>
          <a:prstGeom prst="rect">
            <a:avLst/>
          </a:prstGeom>
          <a:noFill/>
        </p:spPr>
        <p:txBody>
          <a:bodyPr wrap="none" rtlCol="0">
            <a:spAutoFit/>
          </a:bodyPr>
          <a:lstStyle/>
          <a:p>
            <a:pPr algn="ctr"/>
            <a:r>
              <a:rPr lang="es-ES" sz="2000" dirty="0"/>
              <a:t>…</a:t>
            </a:r>
            <a:endParaRPr lang="en-US" sz="2000" dirty="0"/>
          </a:p>
        </p:txBody>
      </p:sp>
      <p:pic>
        <p:nvPicPr>
          <p:cNvPr id="3" name="Gráfico 2">
            <a:extLst>
              <a:ext uri="{FF2B5EF4-FFF2-40B4-BE49-F238E27FC236}">
                <a16:creationId xmlns:a16="http://schemas.microsoft.com/office/drawing/2014/main" id="{0B245A9E-6C9A-F3A8-E4B7-661580126414}"/>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5045006" y="6356057"/>
            <a:ext cx="6409575" cy="363174"/>
          </a:xfrm>
          <a:prstGeom prst="rect">
            <a:avLst/>
          </a:prstGeom>
        </p:spPr>
      </p:pic>
      <p:sp>
        <p:nvSpPr>
          <p:cNvPr id="16" name="object 16">
            <a:extLst>
              <a:ext uri="{FF2B5EF4-FFF2-40B4-BE49-F238E27FC236}">
                <a16:creationId xmlns:a16="http://schemas.microsoft.com/office/drawing/2014/main" id="{8266F13B-05F1-81DE-B638-66D10EEB9FA2}"/>
              </a:ext>
            </a:extLst>
          </p:cNvPr>
          <p:cNvSpPr txBox="1">
            <a:spLocks/>
          </p:cNvSpPr>
          <p:nvPr/>
        </p:nvSpPr>
        <p:spPr>
          <a:xfrm>
            <a:off x="685800" y="408883"/>
            <a:ext cx="10994410" cy="718145"/>
          </a:xfrm>
          <a:prstGeom prst="rect">
            <a:avLst/>
          </a:prstGeom>
        </p:spPr>
        <p:txBody>
          <a:bodyPr vert="horz" wrap="square" lIns="0" tIns="12700" rIns="0" bIns="0" rtlCol="0">
            <a:spAutoFit/>
          </a:bodyPr>
          <a:lstStyle>
            <a:lvl1pPr>
              <a:defRPr sz="2000" b="1" i="0">
                <a:solidFill>
                  <a:schemeClr val="tx1"/>
                </a:solidFill>
                <a:latin typeface="Calibri"/>
                <a:ea typeface="+mj-ea"/>
                <a:cs typeface="Calibri"/>
              </a:defRPr>
            </a:lvl1pPr>
          </a:lstStyle>
          <a:p>
            <a:pPr marL="12700">
              <a:spcBef>
                <a:spcPts val="100"/>
              </a:spcBef>
            </a:pPr>
            <a:r>
              <a:rPr lang="en-US" sz="2500" kern="0" dirty="0"/>
              <a:t>Learning outcome #6a – Effect of K </a:t>
            </a:r>
          </a:p>
          <a:p>
            <a:pPr marL="12700">
              <a:spcBef>
                <a:spcPts val="100"/>
              </a:spcBef>
            </a:pPr>
            <a:r>
              <a:rPr lang="en-US" b="0" kern="0" spc="-5" dirty="0">
                <a:latin typeface="+mj-lt"/>
                <a:cs typeface="Lucida Sans"/>
              </a:rPr>
              <a:t>Change K value between 0.1 and 0.9 in steps of 0.1</a:t>
            </a:r>
          </a:p>
        </p:txBody>
      </p:sp>
      <p:pic>
        <p:nvPicPr>
          <p:cNvPr id="4" name="Obraz 3">
            <a:extLst>
              <a:ext uri="{FF2B5EF4-FFF2-40B4-BE49-F238E27FC236}">
                <a16:creationId xmlns:a16="http://schemas.microsoft.com/office/drawing/2014/main" id="{5C6943BD-8CC7-A6DB-B919-62D14B8C50F5}"/>
              </a:ext>
            </a:extLst>
          </p:cNvPr>
          <p:cNvPicPr>
            <a:picLocks noChangeAspect="1"/>
          </p:cNvPicPr>
          <p:nvPr/>
        </p:nvPicPr>
        <p:blipFill>
          <a:blip r:embed="rId3"/>
          <a:stretch>
            <a:fillRect/>
          </a:stretch>
        </p:blipFill>
        <p:spPr>
          <a:xfrm>
            <a:off x="604935" y="1402073"/>
            <a:ext cx="8996265" cy="2829811"/>
          </a:xfrm>
          <a:prstGeom prst="rect">
            <a:avLst/>
          </a:prstGeom>
        </p:spPr>
      </p:pic>
    </p:spTree>
    <p:extLst>
      <p:ext uri="{BB962C8B-B14F-4D97-AF65-F5344CB8AC3E}">
        <p14:creationId xmlns:p14="http://schemas.microsoft.com/office/powerpoint/2010/main" val="193162521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Marcador de pie de página 4">
            <a:extLst>
              <a:ext uri="{FF2B5EF4-FFF2-40B4-BE49-F238E27FC236}">
                <a16:creationId xmlns:a16="http://schemas.microsoft.com/office/drawing/2014/main" id="{F929251A-3DC4-36B2-3FB3-341378364BED}"/>
              </a:ext>
            </a:extLst>
          </p:cNvPr>
          <p:cNvSpPr>
            <a:spLocks noGrp="1"/>
          </p:cNvSpPr>
          <p:nvPr>
            <p:ph type="ftr" sz="quarter" idx="5"/>
          </p:nvPr>
        </p:nvSpPr>
        <p:spPr/>
        <p:txBody>
          <a:bodyPr/>
          <a:lstStyle/>
          <a:p>
            <a:r>
              <a:rPr lang="en-US"/>
              <a:t>LAB 3.0. CIRCUITS &amp; COMPACT MODELS</a:t>
            </a:r>
          </a:p>
        </p:txBody>
      </p:sp>
      <p:sp>
        <p:nvSpPr>
          <p:cNvPr id="6" name="Marcador de número de diapositiva 5">
            <a:extLst>
              <a:ext uri="{FF2B5EF4-FFF2-40B4-BE49-F238E27FC236}">
                <a16:creationId xmlns:a16="http://schemas.microsoft.com/office/drawing/2014/main" id="{8E91A34C-DF76-97CF-3EFD-546BC64A2184}"/>
              </a:ext>
            </a:extLst>
          </p:cNvPr>
          <p:cNvSpPr>
            <a:spLocks noGrp="1"/>
          </p:cNvSpPr>
          <p:nvPr>
            <p:ph type="sldNum" sz="quarter" idx="7"/>
          </p:nvPr>
        </p:nvSpPr>
        <p:spPr/>
        <p:txBody>
          <a:bodyPr/>
          <a:lstStyle/>
          <a:p>
            <a:fld id="{C2F52289-4012-4053-9770-FE82CEB9514F}" type="slidenum">
              <a:rPr lang="en-US" smtClean="0"/>
              <a:pPr/>
              <a:t>14</a:t>
            </a:fld>
            <a:endParaRPr lang="en-US" dirty="0"/>
          </a:p>
        </p:txBody>
      </p:sp>
      <p:sp>
        <p:nvSpPr>
          <p:cNvPr id="8" name="CuadroTexto 7">
            <a:extLst>
              <a:ext uri="{FF2B5EF4-FFF2-40B4-BE49-F238E27FC236}">
                <a16:creationId xmlns:a16="http://schemas.microsoft.com/office/drawing/2014/main" id="{D9601617-351E-AE1A-1F4D-693F2EA59361}"/>
              </a:ext>
            </a:extLst>
          </p:cNvPr>
          <p:cNvSpPr txBox="1"/>
          <p:nvPr/>
        </p:nvSpPr>
        <p:spPr>
          <a:xfrm>
            <a:off x="611029" y="4860335"/>
            <a:ext cx="11199530" cy="1015663"/>
          </a:xfrm>
          <a:prstGeom prst="rect">
            <a:avLst/>
          </a:prstGeom>
          <a:solidFill>
            <a:schemeClr val="bg1">
              <a:lumMod val="95000"/>
            </a:schemeClr>
          </a:solidFill>
          <a:ln w="28575">
            <a:solidFill>
              <a:srgbClr val="E0700D"/>
            </a:solidFill>
          </a:ln>
        </p:spPr>
        <p:txBody>
          <a:bodyPr wrap="square" rtlCol="0">
            <a:spAutoFit/>
          </a:bodyPr>
          <a:lstStyle/>
          <a:p>
            <a:pPr algn="just"/>
            <a:r>
              <a:rPr lang="en-US" sz="1200" b="1" dirty="0">
                <a:latin typeface="Arial" panose="020B0604020202020204" pitchFamily="34" charset="0"/>
                <a:cs typeface="Arial" panose="020B0604020202020204" pitchFamily="34" charset="0"/>
              </a:rPr>
              <a:t>Comment results. Try to classify the resonances, in which case are you close to critical coupling? Why?</a:t>
            </a:r>
            <a:endParaRPr lang="pl-PL" sz="1200" b="1" dirty="0">
              <a:latin typeface="Arial" panose="020B0604020202020204" pitchFamily="34" charset="0"/>
              <a:cs typeface="Arial" panose="020B0604020202020204" pitchFamily="34" charset="0"/>
            </a:endParaRPr>
          </a:p>
          <a:p>
            <a:pPr algn="just"/>
            <a:r>
              <a:rPr lang="en-US" sz="1200" i="1" dirty="0">
                <a:latin typeface="Arial" panose="020B0604020202020204" pitchFamily="34" charset="0"/>
                <a:cs typeface="Arial" panose="020B0604020202020204" pitchFamily="34" charset="0"/>
              </a:rPr>
              <a:t>In this simulation, all cases are in the </a:t>
            </a:r>
            <a:r>
              <a:rPr lang="en-US" sz="1200" i="1" dirty="0" err="1">
                <a:latin typeface="Arial" panose="020B0604020202020204" pitchFamily="34" charset="0"/>
                <a:cs typeface="Arial" panose="020B0604020202020204" pitchFamily="34" charset="0"/>
              </a:rPr>
              <a:t>overcoupled</a:t>
            </a:r>
            <a:r>
              <a:rPr lang="en-US" sz="1200" i="1" dirty="0">
                <a:latin typeface="Arial" panose="020B0604020202020204" pitchFamily="34" charset="0"/>
                <a:cs typeface="Arial" panose="020B0604020202020204" pitchFamily="34" charset="0"/>
              </a:rPr>
              <a:t> regime. As the loss increases, the dip gets deeper but doesn't fully reach zero. </a:t>
            </a:r>
          </a:p>
          <a:p>
            <a:pPr algn="just"/>
            <a:endParaRPr lang="en-US" sz="1200" i="1" dirty="0">
              <a:latin typeface="Arial" panose="020B0604020202020204" pitchFamily="34" charset="0"/>
              <a:cs typeface="Arial" panose="020B0604020202020204" pitchFamily="34" charset="0"/>
            </a:endParaRPr>
          </a:p>
          <a:p>
            <a:pPr algn="just"/>
            <a:r>
              <a:rPr lang="en-US" sz="1200" i="1" dirty="0">
                <a:latin typeface="Arial" panose="020B0604020202020204" pitchFamily="34" charset="0"/>
                <a:cs typeface="Arial" panose="020B0604020202020204" pitchFamily="34" charset="0"/>
              </a:rPr>
              <a:t>The case closest to critical coupling is alpha = 8 dB/cm. I know this because its transmission dip drops the lowest. This means the internal round-trip losses are getting closer to perfectly matching the coupled power, which strengthens the destructive interference at the output.</a:t>
            </a:r>
            <a:endParaRPr lang="en-US" sz="1200" dirty="0">
              <a:latin typeface="Arial" panose="020B0604020202020204" pitchFamily="34" charset="0"/>
              <a:cs typeface="Arial" panose="020B0604020202020204" pitchFamily="34" charset="0"/>
            </a:endParaRPr>
          </a:p>
        </p:txBody>
      </p:sp>
      <p:sp>
        <p:nvSpPr>
          <p:cNvPr id="11" name="Rectángulo 10">
            <a:extLst>
              <a:ext uri="{FF2B5EF4-FFF2-40B4-BE49-F238E27FC236}">
                <a16:creationId xmlns:a16="http://schemas.microsoft.com/office/drawing/2014/main" id="{B811A5F9-C0B5-716C-70FB-9472E1BC2CD3}"/>
              </a:ext>
            </a:extLst>
          </p:cNvPr>
          <p:cNvSpPr/>
          <p:nvPr/>
        </p:nvSpPr>
        <p:spPr>
          <a:xfrm>
            <a:off x="611030" y="1418373"/>
            <a:ext cx="2538552" cy="3306028"/>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ángulo 13">
            <a:extLst>
              <a:ext uri="{FF2B5EF4-FFF2-40B4-BE49-F238E27FC236}">
                <a16:creationId xmlns:a16="http://schemas.microsoft.com/office/drawing/2014/main" id="{6AA857E7-5C39-DCE1-10B5-40300FCF4B26}"/>
              </a:ext>
            </a:extLst>
          </p:cNvPr>
          <p:cNvSpPr/>
          <p:nvPr/>
        </p:nvSpPr>
        <p:spPr>
          <a:xfrm>
            <a:off x="3277315" y="1419036"/>
            <a:ext cx="2538552" cy="3306028"/>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CuadroTexto 14">
            <a:extLst>
              <a:ext uri="{FF2B5EF4-FFF2-40B4-BE49-F238E27FC236}">
                <a16:creationId xmlns:a16="http://schemas.microsoft.com/office/drawing/2014/main" id="{54CF28B4-1346-F41D-2CD8-EA104ABBFB98}"/>
              </a:ext>
            </a:extLst>
          </p:cNvPr>
          <p:cNvSpPr txBox="1"/>
          <p:nvPr/>
        </p:nvSpPr>
        <p:spPr>
          <a:xfrm>
            <a:off x="863650" y="2101891"/>
            <a:ext cx="2033313" cy="1938992"/>
          </a:xfrm>
          <a:prstGeom prst="rect">
            <a:avLst/>
          </a:prstGeom>
          <a:noFill/>
        </p:spPr>
        <p:txBody>
          <a:bodyPr wrap="none" rtlCol="0">
            <a:spAutoFit/>
          </a:bodyPr>
          <a:lstStyle/>
          <a:p>
            <a:pPr algn="ctr"/>
            <a:r>
              <a:rPr lang="es-ES" sz="2000" dirty="0"/>
              <a:t>Single ring</a:t>
            </a:r>
          </a:p>
          <a:p>
            <a:pPr algn="ctr"/>
            <a:r>
              <a:rPr lang="es-ES" sz="2000" dirty="0"/>
              <a:t>transfer </a:t>
            </a:r>
            <a:r>
              <a:rPr lang="es-ES" sz="2000" dirty="0" err="1"/>
              <a:t>functions</a:t>
            </a:r>
            <a:endParaRPr lang="es-ES" sz="2000" dirty="0"/>
          </a:p>
          <a:p>
            <a:pPr algn="ctr"/>
            <a:endParaRPr lang="es-ES" sz="2000" dirty="0"/>
          </a:p>
          <a:p>
            <a:pPr algn="ctr"/>
            <a:r>
              <a:rPr lang="es-ES" sz="2000" dirty="0"/>
              <a:t>Linear </a:t>
            </a:r>
            <a:r>
              <a:rPr lang="es-ES" sz="2000" dirty="0" err="1"/>
              <a:t>units</a:t>
            </a:r>
            <a:endParaRPr lang="es-ES" sz="2000" dirty="0"/>
          </a:p>
          <a:p>
            <a:pPr algn="ctr"/>
            <a:endParaRPr lang="es-ES" sz="2000" dirty="0"/>
          </a:p>
          <a:p>
            <a:pPr algn="ctr"/>
            <a:r>
              <a:rPr lang="es-ES" sz="2000" dirty="0" err="1"/>
              <a:t>alpha</a:t>
            </a:r>
            <a:r>
              <a:rPr lang="es-ES" sz="2000" dirty="0"/>
              <a:t>=0 dB/cm</a:t>
            </a:r>
            <a:endParaRPr lang="en-US" sz="2000" dirty="0"/>
          </a:p>
        </p:txBody>
      </p:sp>
      <p:sp>
        <p:nvSpPr>
          <p:cNvPr id="9" name="Rectángulo 8">
            <a:extLst>
              <a:ext uri="{FF2B5EF4-FFF2-40B4-BE49-F238E27FC236}">
                <a16:creationId xmlns:a16="http://schemas.microsoft.com/office/drawing/2014/main" id="{11F0F5FC-B571-59FC-7890-3105A6A843BB}"/>
              </a:ext>
            </a:extLst>
          </p:cNvPr>
          <p:cNvSpPr/>
          <p:nvPr/>
        </p:nvSpPr>
        <p:spPr>
          <a:xfrm>
            <a:off x="5943600" y="1418373"/>
            <a:ext cx="2538552" cy="3306028"/>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CuadroTexto 9">
            <a:extLst>
              <a:ext uri="{FF2B5EF4-FFF2-40B4-BE49-F238E27FC236}">
                <a16:creationId xmlns:a16="http://schemas.microsoft.com/office/drawing/2014/main" id="{3146642F-220B-8F6A-59A8-2D128DDF3BEB}"/>
              </a:ext>
            </a:extLst>
          </p:cNvPr>
          <p:cNvSpPr txBox="1"/>
          <p:nvPr/>
        </p:nvSpPr>
        <p:spPr>
          <a:xfrm>
            <a:off x="3529935" y="2104638"/>
            <a:ext cx="2033313" cy="1938992"/>
          </a:xfrm>
          <a:prstGeom prst="rect">
            <a:avLst/>
          </a:prstGeom>
          <a:noFill/>
        </p:spPr>
        <p:txBody>
          <a:bodyPr wrap="none" rtlCol="0">
            <a:spAutoFit/>
          </a:bodyPr>
          <a:lstStyle/>
          <a:p>
            <a:pPr algn="ctr"/>
            <a:r>
              <a:rPr lang="es-ES" sz="2000" dirty="0"/>
              <a:t>Single ring</a:t>
            </a:r>
          </a:p>
          <a:p>
            <a:pPr algn="ctr"/>
            <a:r>
              <a:rPr lang="es-ES" sz="2000" dirty="0"/>
              <a:t>transfer </a:t>
            </a:r>
            <a:r>
              <a:rPr lang="es-ES" sz="2000" dirty="0" err="1"/>
              <a:t>functions</a:t>
            </a:r>
            <a:endParaRPr lang="es-ES" sz="2000" dirty="0"/>
          </a:p>
          <a:p>
            <a:pPr algn="ctr"/>
            <a:endParaRPr lang="es-ES" sz="2000" dirty="0"/>
          </a:p>
          <a:p>
            <a:pPr algn="ctr"/>
            <a:r>
              <a:rPr lang="es-ES" sz="2000" dirty="0"/>
              <a:t>Linear </a:t>
            </a:r>
            <a:r>
              <a:rPr lang="es-ES" sz="2000" dirty="0" err="1"/>
              <a:t>units</a:t>
            </a:r>
            <a:endParaRPr lang="es-ES" sz="2000" dirty="0"/>
          </a:p>
          <a:p>
            <a:pPr algn="ctr"/>
            <a:endParaRPr lang="es-ES" sz="2000" dirty="0"/>
          </a:p>
          <a:p>
            <a:pPr algn="ctr"/>
            <a:r>
              <a:rPr lang="es-ES" sz="2000" dirty="0" err="1"/>
              <a:t>alpha</a:t>
            </a:r>
            <a:r>
              <a:rPr lang="es-ES" sz="2000" dirty="0"/>
              <a:t>=1 dB/cm</a:t>
            </a:r>
            <a:endParaRPr lang="en-US" sz="2000" dirty="0"/>
          </a:p>
        </p:txBody>
      </p:sp>
      <p:sp>
        <p:nvSpPr>
          <p:cNvPr id="13" name="CuadroTexto 12">
            <a:extLst>
              <a:ext uri="{FF2B5EF4-FFF2-40B4-BE49-F238E27FC236}">
                <a16:creationId xmlns:a16="http://schemas.microsoft.com/office/drawing/2014/main" id="{057C499E-829F-FB11-9128-843C937CB822}"/>
              </a:ext>
            </a:extLst>
          </p:cNvPr>
          <p:cNvSpPr txBox="1"/>
          <p:nvPr/>
        </p:nvSpPr>
        <p:spPr>
          <a:xfrm>
            <a:off x="6195187" y="2101891"/>
            <a:ext cx="2033313" cy="1938992"/>
          </a:xfrm>
          <a:prstGeom prst="rect">
            <a:avLst/>
          </a:prstGeom>
          <a:noFill/>
        </p:spPr>
        <p:txBody>
          <a:bodyPr wrap="none" rtlCol="0">
            <a:spAutoFit/>
          </a:bodyPr>
          <a:lstStyle/>
          <a:p>
            <a:pPr algn="ctr"/>
            <a:r>
              <a:rPr lang="es-ES" sz="2000" dirty="0"/>
              <a:t>Single ring</a:t>
            </a:r>
          </a:p>
          <a:p>
            <a:pPr algn="ctr"/>
            <a:r>
              <a:rPr lang="es-ES" sz="2000" dirty="0"/>
              <a:t>transfer </a:t>
            </a:r>
            <a:r>
              <a:rPr lang="es-ES" sz="2000" dirty="0" err="1"/>
              <a:t>functions</a:t>
            </a:r>
            <a:endParaRPr lang="es-ES" sz="2000" dirty="0"/>
          </a:p>
          <a:p>
            <a:pPr algn="ctr"/>
            <a:endParaRPr lang="es-ES" sz="2000" dirty="0"/>
          </a:p>
          <a:p>
            <a:pPr algn="ctr"/>
            <a:r>
              <a:rPr lang="es-ES" sz="2000" dirty="0"/>
              <a:t>Linear </a:t>
            </a:r>
            <a:r>
              <a:rPr lang="es-ES" sz="2000" dirty="0" err="1"/>
              <a:t>units</a:t>
            </a:r>
            <a:endParaRPr lang="es-ES" sz="2000" dirty="0"/>
          </a:p>
          <a:p>
            <a:pPr algn="ctr"/>
            <a:endParaRPr lang="es-ES" sz="2000" dirty="0"/>
          </a:p>
          <a:p>
            <a:pPr algn="ctr"/>
            <a:r>
              <a:rPr lang="es-ES" sz="2000" dirty="0" err="1"/>
              <a:t>alpha</a:t>
            </a:r>
            <a:r>
              <a:rPr lang="es-ES" sz="2000" dirty="0"/>
              <a:t>=2 dB/cm</a:t>
            </a:r>
            <a:endParaRPr lang="en-US" sz="2000" dirty="0"/>
          </a:p>
        </p:txBody>
      </p:sp>
      <p:sp>
        <p:nvSpPr>
          <p:cNvPr id="12" name="Rectángulo 11">
            <a:extLst>
              <a:ext uri="{FF2B5EF4-FFF2-40B4-BE49-F238E27FC236}">
                <a16:creationId xmlns:a16="http://schemas.microsoft.com/office/drawing/2014/main" id="{D9D5941A-D9F5-22E7-7E85-0D04C2B214EC}"/>
              </a:ext>
            </a:extLst>
          </p:cNvPr>
          <p:cNvSpPr/>
          <p:nvPr/>
        </p:nvSpPr>
        <p:spPr>
          <a:xfrm>
            <a:off x="8609885" y="1418373"/>
            <a:ext cx="2538552" cy="3306028"/>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CuadroTexto 15">
            <a:extLst>
              <a:ext uri="{FF2B5EF4-FFF2-40B4-BE49-F238E27FC236}">
                <a16:creationId xmlns:a16="http://schemas.microsoft.com/office/drawing/2014/main" id="{4A6C8490-F65B-32C9-44E8-9A1A1A1B1769}"/>
              </a:ext>
            </a:extLst>
          </p:cNvPr>
          <p:cNvSpPr txBox="1"/>
          <p:nvPr/>
        </p:nvSpPr>
        <p:spPr>
          <a:xfrm>
            <a:off x="8861472" y="2101891"/>
            <a:ext cx="2033313" cy="1938992"/>
          </a:xfrm>
          <a:prstGeom prst="rect">
            <a:avLst/>
          </a:prstGeom>
          <a:noFill/>
        </p:spPr>
        <p:txBody>
          <a:bodyPr wrap="none" rtlCol="0">
            <a:spAutoFit/>
          </a:bodyPr>
          <a:lstStyle/>
          <a:p>
            <a:pPr algn="ctr"/>
            <a:r>
              <a:rPr lang="es-ES" sz="2000" dirty="0"/>
              <a:t>Single ring</a:t>
            </a:r>
          </a:p>
          <a:p>
            <a:pPr algn="ctr"/>
            <a:r>
              <a:rPr lang="es-ES" sz="2000" dirty="0"/>
              <a:t>transfer </a:t>
            </a:r>
            <a:r>
              <a:rPr lang="es-ES" sz="2000" dirty="0" err="1"/>
              <a:t>functions</a:t>
            </a:r>
            <a:endParaRPr lang="es-ES" sz="2000" dirty="0"/>
          </a:p>
          <a:p>
            <a:pPr algn="ctr"/>
            <a:endParaRPr lang="es-ES" sz="2000" dirty="0"/>
          </a:p>
          <a:p>
            <a:pPr algn="ctr"/>
            <a:r>
              <a:rPr lang="es-ES" sz="2000" dirty="0"/>
              <a:t>Linear </a:t>
            </a:r>
            <a:r>
              <a:rPr lang="es-ES" sz="2000" dirty="0" err="1"/>
              <a:t>units</a:t>
            </a:r>
            <a:endParaRPr lang="es-ES" sz="2000" dirty="0"/>
          </a:p>
          <a:p>
            <a:pPr algn="ctr"/>
            <a:endParaRPr lang="es-ES" sz="2000" dirty="0"/>
          </a:p>
          <a:p>
            <a:pPr algn="ctr"/>
            <a:r>
              <a:rPr lang="es-ES" sz="2000" dirty="0" err="1"/>
              <a:t>alpha</a:t>
            </a:r>
            <a:r>
              <a:rPr lang="es-ES" sz="2000" dirty="0"/>
              <a:t>=2 dB/cm</a:t>
            </a:r>
            <a:endParaRPr lang="en-US" sz="2000" dirty="0"/>
          </a:p>
        </p:txBody>
      </p:sp>
      <p:pic>
        <p:nvPicPr>
          <p:cNvPr id="17" name="Gráfico 16">
            <a:extLst>
              <a:ext uri="{FF2B5EF4-FFF2-40B4-BE49-F238E27FC236}">
                <a16:creationId xmlns:a16="http://schemas.microsoft.com/office/drawing/2014/main" id="{16D15CB1-2EB9-A3F2-8611-C524CCD1CAE2}"/>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5045006" y="6356057"/>
            <a:ext cx="6409575" cy="363174"/>
          </a:xfrm>
          <a:prstGeom prst="rect">
            <a:avLst/>
          </a:prstGeom>
        </p:spPr>
      </p:pic>
      <p:sp>
        <p:nvSpPr>
          <p:cNvPr id="18" name="object 16">
            <a:extLst>
              <a:ext uri="{FF2B5EF4-FFF2-40B4-BE49-F238E27FC236}">
                <a16:creationId xmlns:a16="http://schemas.microsoft.com/office/drawing/2014/main" id="{989133D6-A9B3-EFEA-2703-51A6BDA0A885}"/>
              </a:ext>
            </a:extLst>
          </p:cNvPr>
          <p:cNvSpPr txBox="1">
            <a:spLocks/>
          </p:cNvSpPr>
          <p:nvPr/>
        </p:nvSpPr>
        <p:spPr>
          <a:xfrm>
            <a:off x="685800" y="408883"/>
            <a:ext cx="10994410" cy="718145"/>
          </a:xfrm>
          <a:prstGeom prst="rect">
            <a:avLst/>
          </a:prstGeom>
        </p:spPr>
        <p:txBody>
          <a:bodyPr vert="horz" wrap="square" lIns="0" tIns="12700" rIns="0" bIns="0" rtlCol="0">
            <a:spAutoFit/>
          </a:bodyPr>
          <a:lstStyle>
            <a:lvl1pPr>
              <a:defRPr sz="2000" b="1" i="0">
                <a:solidFill>
                  <a:schemeClr val="tx1"/>
                </a:solidFill>
                <a:latin typeface="Calibri"/>
                <a:ea typeface="+mj-ea"/>
                <a:cs typeface="Calibri"/>
              </a:defRPr>
            </a:lvl1pPr>
          </a:lstStyle>
          <a:p>
            <a:pPr marL="12700">
              <a:spcBef>
                <a:spcPts val="100"/>
              </a:spcBef>
            </a:pPr>
            <a:r>
              <a:rPr lang="en-US" sz="2500" kern="0" dirty="0"/>
              <a:t>Learning outcome #6b – E</a:t>
            </a:r>
            <a:r>
              <a:rPr lang="en-US" sz="2500" dirty="0"/>
              <a:t>ffect of loss</a:t>
            </a:r>
            <a:endParaRPr lang="en-US" sz="2500" kern="0" dirty="0"/>
          </a:p>
          <a:p>
            <a:pPr marL="12700">
              <a:spcBef>
                <a:spcPts val="100"/>
              </a:spcBef>
            </a:pPr>
            <a:r>
              <a:rPr lang="en-US" b="0" kern="0" spc="-5" dirty="0">
                <a:latin typeface="+mj-lt"/>
                <a:cs typeface="Lucida Sans"/>
              </a:rPr>
              <a:t>Change losses value between 0 and 8 </a:t>
            </a:r>
            <a:r>
              <a:rPr lang="en-US" b="0" kern="0" spc="-5" dirty="0">
                <a:solidFill>
                  <a:srgbClr val="FF0000"/>
                </a:solidFill>
                <a:latin typeface="+mj-lt"/>
                <a:cs typeface="Lucida Sans"/>
              </a:rPr>
              <a:t>dB/cm </a:t>
            </a:r>
            <a:r>
              <a:rPr lang="en-US" b="0" kern="0" spc="-5" dirty="0">
                <a:latin typeface="+mj-lt"/>
                <a:cs typeface="Lucida Sans"/>
              </a:rPr>
              <a:t>in steps of 1</a:t>
            </a:r>
          </a:p>
        </p:txBody>
      </p:sp>
      <p:pic>
        <p:nvPicPr>
          <p:cNvPr id="7" name="Obraz 6">
            <a:extLst>
              <a:ext uri="{FF2B5EF4-FFF2-40B4-BE49-F238E27FC236}">
                <a16:creationId xmlns:a16="http://schemas.microsoft.com/office/drawing/2014/main" id="{3B5DD941-96BA-0DF7-FE00-5111FD22CBB4}"/>
              </a:ext>
            </a:extLst>
          </p:cNvPr>
          <p:cNvPicPr>
            <a:picLocks noChangeAspect="1"/>
          </p:cNvPicPr>
          <p:nvPr/>
        </p:nvPicPr>
        <p:blipFill>
          <a:blip r:embed="rId3"/>
          <a:stretch>
            <a:fillRect/>
          </a:stretch>
        </p:blipFill>
        <p:spPr>
          <a:xfrm>
            <a:off x="685800" y="1440969"/>
            <a:ext cx="10363200" cy="1691067"/>
          </a:xfrm>
          <a:prstGeom prst="rect">
            <a:avLst/>
          </a:prstGeom>
        </p:spPr>
      </p:pic>
      <p:pic>
        <p:nvPicPr>
          <p:cNvPr id="20" name="Obraz 19">
            <a:extLst>
              <a:ext uri="{FF2B5EF4-FFF2-40B4-BE49-F238E27FC236}">
                <a16:creationId xmlns:a16="http://schemas.microsoft.com/office/drawing/2014/main" id="{0E1101AB-D72D-6F27-ED9B-DFBC38C298E5}"/>
              </a:ext>
            </a:extLst>
          </p:cNvPr>
          <p:cNvPicPr>
            <a:picLocks noChangeAspect="1"/>
          </p:cNvPicPr>
          <p:nvPr/>
        </p:nvPicPr>
        <p:blipFill>
          <a:blip r:embed="rId4"/>
          <a:stretch>
            <a:fillRect/>
          </a:stretch>
        </p:blipFill>
        <p:spPr>
          <a:xfrm>
            <a:off x="832301" y="3088681"/>
            <a:ext cx="9881419" cy="1613124"/>
          </a:xfrm>
          <a:prstGeom prst="rect">
            <a:avLst/>
          </a:prstGeom>
        </p:spPr>
      </p:pic>
    </p:spTree>
    <p:extLst>
      <p:ext uri="{BB962C8B-B14F-4D97-AF65-F5344CB8AC3E}">
        <p14:creationId xmlns:p14="http://schemas.microsoft.com/office/powerpoint/2010/main" val="146119669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p:nvPr/>
        </p:nvSpPr>
        <p:spPr>
          <a:xfrm>
            <a:off x="3945635" y="2636520"/>
            <a:ext cx="8246363" cy="1584959"/>
          </a:xfrm>
          <a:prstGeom prst="rect">
            <a:avLst/>
          </a:prstGeom>
          <a:blipFill>
            <a:blip r:embed="rId2" cstate="print"/>
            <a:stretch>
              <a:fillRect/>
            </a:stretch>
          </a:blipFill>
        </p:spPr>
        <p:txBody>
          <a:bodyPr wrap="square" lIns="0" tIns="0" rIns="0" bIns="0" rtlCol="0"/>
          <a:lstStyle/>
          <a:p>
            <a:endParaRPr/>
          </a:p>
        </p:txBody>
      </p:sp>
      <p:sp>
        <p:nvSpPr>
          <p:cNvPr id="4" name="object 4"/>
          <p:cNvSpPr txBox="1">
            <a:spLocks noGrp="1"/>
          </p:cNvSpPr>
          <p:nvPr>
            <p:ph type="title"/>
          </p:nvPr>
        </p:nvSpPr>
        <p:spPr>
          <a:xfrm>
            <a:off x="4513326" y="3165729"/>
            <a:ext cx="2233295" cy="513715"/>
          </a:xfrm>
          <a:prstGeom prst="rect">
            <a:avLst/>
          </a:prstGeom>
        </p:spPr>
        <p:txBody>
          <a:bodyPr vert="horz" wrap="square" lIns="0" tIns="13335" rIns="0" bIns="0" rtlCol="0">
            <a:spAutoFit/>
          </a:bodyPr>
          <a:lstStyle/>
          <a:p>
            <a:pPr marL="12700">
              <a:lnSpc>
                <a:spcPct val="100000"/>
              </a:lnSpc>
              <a:spcBef>
                <a:spcPts val="105"/>
              </a:spcBef>
            </a:pPr>
            <a:r>
              <a:rPr sz="3200" b="1" spc="-5" dirty="0">
                <a:solidFill>
                  <a:srgbClr val="FFFFFF"/>
                </a:solidFill>
                <a:latin typeface="Lucida Sans"/>
                <a:cs typeface="Lucida Sans"/>
              </a:rPr>
              <a:t>Thank</a:t>
            </a:r>
            <a:r>
              <a:rPr sz="3200" b="1" spc="-55" dirty="0">
                <a:solidFill>
                  <a:srgbClr val="FFFFFF"/>
                </a:solidFill>
                <a:latin typeface="Lucida Sans"/>
                <a:cs typeface="Lucida Sans"/>
              </a:rPr>
              <a:t> </a:t>
            </a:r>
            <a:r>
              <a:rPr sz="3200" b="1" dirty="0">
                <a:solidFill>
                  <a:srgbClr val="FFFFFF"/>
                </a:solidFill>
                <a:latin typeface="Lucida Sans"/>
                <a:cs typeface="Lucida Sans"/>
              </a:rPr>
              <a:t>you</a:t>
            </a:r>
            <a:endParaRPr sz="3200">
              <a:latin typeface="Lucida Sans"/>
              <a:cs typeface="Lucida Sans"/>
            </a:endParaRPr>
          </a:p>
        </p:txBody>
      </p:sp>
      <p:sp>
        <p:nvSpPr>
          <p:cNvPr id="5" name="Marcador de número de diapositiva 4">
            <a:extLst>
              <a:ext uri="{FF2B5EF4-FFF2-40B4-BE49-F238E27FC236}">
                <a16:creationId xmlns:a16="http://schemas.microsoft.com/office/drawing/2014/main" id="{B052DA19-AD24-7D24-2AE9-51F8F5A7F5E0}"/>
              </a:ext>
            </a:extLst>
          </p:cNvPr>
          <p:cNvSpPr>
            <a:spLocks noGrp="1"/>
          </p:cNvSpPr>
          <p:nvPr>
            <p:ph type="sldNum" sz="quarter" idx="7"/>
          </p:nvPr>
        </p:nvSpPr>
        <p:spPr/>
        <p:txBody>
          <a:bodyPr/>
          <a:lstStyle/>
          <a:p>
            <a:fld id="{B6F15528-21DE-4FAA-801E-634DDDAF4B2B}" type="slidenum">
              <a:rPr lang="es-ES" smtClean="0"/>
              <a:t>15</a:t>
            </a:fld>
            <a:endParaRPr lang="es-E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00"/>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Tema d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
  <TotalTime>1783</TotalTime>
  <Words>2115</Words>
  <Application>Microsoft Office PowerPoint</Application>
  <PresentationFormat>Panoramiczny</PresentationFormat>
  <Paragraphs>276</Paragraphs>
  <Slides>15</Slides>
  <Notes>2</Notes>
  <HiddenSlides>0</HiddenSlides>
  <MMClips>0</MMClips>
  <ScaleCrop>false</ScaleCrop>
  <HeadingPairs>
    <vt:vector size="6" baseType="variant">
      <vt:variant>
        <vt:lpstr>Używane czcionki</vt:lpstr>
      </vt:variant>
      <vt:variant>
        <vt:i4>5</vt:i4>
      </vt:variant>
      <vt:variant>
        <vt:lpstr>Motyw</vt:lpstr>
      </vt:variant>
      <vt:variant>
        <vt:i4>1</vt:i4>
      </vt:variant>
      <vt:variant>
        <vt:lpstr>Tytuły slajdów</vt:lpstr>
      </vt:variant>
      <vt:variant>
        <vt:i4>15</vt:i4>
      </vt:variant>
    </vt:vector>
  </HeadingPairs>
  <TitlesOfParts>
    <vt:vector size="21" baseType="lpstr">
      <vt:lpstr>Aptos</vt:lpstr>
      <vt:lpstr>Arial</vt:lpstr>
      <vt:lpstr>Calibri</vt:lpstr>
      <vt:lpstr>Lucida Sans</vt:lpstr>
      <vt:lpstr>Wingdings</vt:lpstr>
      <vt:lpstr>Office Theme</vt:lpstr>
      <vt:lpstr>Prezentacja programu PowerPoint</vt:lpstr>
      <vt:lpstr>Instructions General</vt:lpstr>
      <vt:lpstr>Learning outcome #1a – Perfectly balanced MZI </vt:lpstr>
      <vt:lpstr>Learning outcome #1b – Unbalanced MZI </vt:lpstr>
      <vt:lpstr>LO1.b</vt:lpstr>
      <vt:lpstr>Prezentacja programu PowerPoint</vt:lpstr>
      <vt:lpstr>Prezentacja programu PowerPoint</vt:lpstr>
      <vt:lpstr>Prezentacja programu PowerPoint</vt:lpstr>
      <vt:lpstr>LO.3</vt:lpstr>
      <vt:lpstr>Prezentacja programu PowerPoint</vt:lpstr>
      <vt:lpstr>Prezentacja programu PowerPoint</vt:lpstr>
      <vt:lpstr>LO5</vt:lpstr>
      <vt:lpstr>Prezentacja programu PowerPoint</vt:lpstr>
      <vt:lpstr>Prezentacja programu PowerPoint</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Presentación de PowerPoint</dc:title>
  <dc:creator>Mª Ester Calataytud</dc:creator>
  <cp:lastModifiedBy>Antoni Piałucha (275411)</cp:lastModifiedBy>
  <cp:revision>15</cp:revision>
  <cp:lastPrinted>2026-05-19T14:09:58Z</cp:lastPrinted>
  <dcterms:created xsi:type="dcterms:W3CDTF">2025-01-27T02:46:57Z</dcterms:created>
  <dcterms:modified xsi:type="dcterms:W3CDTF">2026-05-19T14:19:51Z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2024-09-16T00:00:00Z</vt:filetime>
  </property>
  <property fmtid="{D5CDD505-2E9C-101B-9397-08002B2CF9AE}" pid="3" name="Creator">
    <vt:lpwstr>Microsoft® PowerPoint® 2016</vt:lpwstr>
  </property>
  <property fmtid="{D5CDD505-2E9C-101B-9397-08002B2CF9AE}" pid="4" name="LastSaved">
    <vt:filetime>2025-01-27T00:00:00Z</vt:filetime>
  </property>
</Properties>
</file>